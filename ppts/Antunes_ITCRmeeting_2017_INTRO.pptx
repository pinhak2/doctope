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avi" ContentType="video/avi"/>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78" r:id="rId1"/>
  </p:sldMasterIdLst>
  <p:notesMasterIdLst>
    <p:notesMasterId r:id="rId15"/>
  </p:notesMasterIdLst>
  <p:sldIdLst>
    <p:sldId id="620" r:id="rId2"/>
    <p:sldId id="582" r:id="rId3"/>
    <p:sldId id="606" r:id="rId4"/>
    <p:sldId id="607" r:id="rId5"/>
    <p:sldId id="589" r:id="rId6"/>
    <p:sldId id="592" r:id="rId7"/>
    <p:sldId id="629" r:id="rId8"/>
    <p:sldId id="621" r:id="rId9"/>
    <p:sldId id="593" r:id="rId10"/>
    <p:sldId id="623" r:id="rId11"/>
    <p:sldId id="591" r:id="rId12"/>
    <p:sldId id="615" r:id="rId13"/>
    <p:sldId id="619" r:id="rId14"/>
  </p:sldIdLst>
  <p:sldSz cx="9144000" cy="6858000" type="screen4x3"/>
  <p:notesSz cx="6858000" cy="9144000"/>
  <p:defaultTextStyle>
    <a:defPPr>
      <a:defRPr lang="pt-BR"/>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5145"/>
    <a:srgbClr val="B25E53"/>
    <a:srgbClr val="E84444"/>
    <a:srgbClr val="FF988F"/>
    <a:srgbClr val="6B96F4"/>
    <a:srgbClr val="0DA206"/>
    <a:srgbClr val="41F838"/>
    <a:srgbClr val="913113"/>
    <a:srgbClr val="B97D77"/>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Estilo Médio 4 - Ênfas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92" autoAdjust="0"/>
    <p:restoredTop sz="84902" autoAdjust="0"/>
  </p:normalViewPr>
  <p:slideViewPr>
    <p:cSldViewPr>
      <p:cViewPr>
        <p:scale>
          <a:sx n="90" d="100"/>
          <a:sy n="90" d="100"/>
        </p:scale>
        <p:origin x="-72" y="702"/>
      </p:cViewPr>
      <p:guideLst>
        <p:guide orient="horz" pos="2160"/>
        <p:guide pos="2880"/>
      </p:guideLst>
    </p:cSldViewPr>
  </p:slideViewPr>
  <p:outlineViewPr>
    <p:cViewPr>
      <p:scale>
        <a:sx n="33" d="100"/>
        <a:sy n="33" d="100"/>
      </p:scale>
      <p:origin x="0" y="5034"/>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4A2947-C535-4835-A4E6-E47C37DD098B}" type="datetimeFigureOut">
              <a:rPr lang="pt-BR" smtClean="0"/>
              <a:pPr/>
              <a:t>23/09/2018</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9323F8-D4AB-4AFA-BF7B-92DA072ACC5A}" type="slidenum">
              <a:rPr lang="pt-BR" smtClean="0"/>
              <a:pPr/>
              <a:t>‹#›</a:t>
            </a:fld>
            <a:endParaRPr lang="pt-BR"/>
          </a:p>
        </p:txBody>
      </p:sp>
    </p:spTree>
    <p:extLst>
      <p:ext uri="{BB962C8B-B14F-4D97-AF65-F5344CB8AC3E}">
        <p14:creationId xmlns:p14="http://schemas.microsoft.com/office/powerpoint/2010/main" val="1282311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a:t>
            </a:r>
            <a:r>
              <a:rPr lang="en-US" baseline="0" dirty="0" smtClean="0"/>
              <a:t> you for the introduction, </a:t>
            </a:r>
          </a:p>
          <a:p>
            <a:r>
              <a:rPr lang="en-US" baseline="0" dirty="0" smtClean="0"/>
              <a:t>My name is Dinler </a:t>
            </a:r>
            <a:r>
              <a:rPr lang="en-US" baseline="0" dirty="0" err="1" smtClean="0"/>
              <a:t>Antunes</a:t>
            </a:r>
            <a:r>
              <a:rPr lang="en-US" baseline="0" dirty="0" smtClean="0"/>
              <a:t> and I am a Postdoctoral Research Associate at Rice university, under Dr. Lydia </a:t>
            </a:r>
            <a:r>
              <a:rPr lang="en-US" baseline="0" dirty="0" err="1" smtClean="0"/>
              <a:t>Kavraki</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1</a:t>
            </a:fld>
            <a:endParaRPr lang="pt-BR"/>
          </a:p>
        </p:txBody>
      </p:sp>
    </p:spTree>
    <p:extLst>
      <p:ext uri="{BB962C8B-B14F-4D97-AF65-F5344CB8AC3E}">
        <p14:creationId xmlns:p14="http://schemas.microsoft.com/office/powerpoint/2010/main" val="2601659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So</a:t>
            </a:r>
            <a:r>
              <a:rPr lang="en-US" baseline="0" dirty="0" smtClean="0"/>
              <a:t> let’s start by the key role of the HLA molecules in cellular immunity.</a:t>
            </a:r>
          </a:p>
          <a:p>
            <a:pPr marL="171450" indent="-171450">
              <a:buFont typeface="Wingdings"/>
              <a:buChar char="Ø"/>
            </a:pPr>
            <a:r>
              <a:rPr lang="en-US" baseline="0" dirty="0" smtClean="0"/>
              <a:t>There is a sort of “quality control” mechanism that is present in almost every cell, through which a sample of intracellular proteins is cleaved into small peptides, which are in turn bound to a specific family of receptors (known as Human Leukocyte Antigens, or HLAs), and the resulting peptide-HLA complexes are displayed at the cell surface.</a:t>
            </a:r>
          </a:p>
          <a:p>
            <a:pPr marL="171450" indent="-171450">
              <a:buFont typeface="Wingdings"/>
              <a:buChar char="Ø"/>
            </a:pPr>
            <a:r>
              <a:rPr lang="en-US" baseline="0" dirty="0" smtClean="0"/>
              <a:t>Through this mechanism, these intracellular peptides are now exposed to immune cells, such as tumor-specific cytotoxic T cell, which </a:t>
            </a:r>
            <a:r>
              <a:rPr lang="en-US" baseline="0" dirty="0" err="1" smtClean="0"/>
              <a:t>which</a:t>
            </a:r>
            <a:r>
              <a:rPr lang="en-US" baseline="0" dirty="0" smtClean="0"/>
              <a:t> can distinguish between self and foreign peptides. This is a pathway that evolved to identify and eliminate cells infected by viruses.</a:t>
            </a:r>
          </a:p>
          <a:p>
            <a:pPr marL="171450" indent="-171450">
              <a:buFont typeface="Wingdings"/>
              <a:buChar char="Ø"/>
            </a:pPr>
            <a:r>
              <a:rPr lang="en-US" baseline="0" dirty="0" smtClean="0"/>
              <a:t>However, the same pathway is also present in tumor cells, which among regular self-peptides will also present some tumor-specific peptides (red). This unusual peptides will be recognized by tumor-specific T-cells, activating the T-cell that will kill the cancer cell.</a:t>
            </a:r>
          </a:p>
          <a:p>
            <a:pPr marL="171450" indent="-171450">
              <a:buFont typeface="Wingdings"/>
              <a:buChar char="Ø"/>
            </a:pPr>
            <a:endParaRPr lang="en-US" baseline="0" dirty="0" smtClean="0"/>
          </a:p>
          <a:p>
            <a:pPr marL="171450" indent="-171450">
              <a:buFont typeface="Wingdings"/>
              <a:buChar char="Ø"/>
            </a:pPr>
            <a:r>
              <a:rPr lang="en-US" baseline="0" dirty="0" smtClean="0"/>
              <a:t>And I refer to this particular T-cell as being “tumor-specific” in the sense that in a normal situation, this cell would not recognize any self peptide. Of course things are always more complicated, you have tumor evasion mechanisms, you might have off-target recognition, but the main point is that we can leverage this natural mechanism of tumor immunity, to have a treatment that is targeting only tumor cells, and that will find them, wherever they are. </a:t>
            </a:r>
          </a:p>
          <a:p>
            <a:pPr marL="171450" indent="-171450">
              <a:buFont typeface="Wingdings"/>
              <a:buChar char="Ø"/>
            </a:pPr>
            <a:r>
              <a:rPr lang="en-US" baseline="0" dirty="0" smtClean="0"/>
              <a:t> </a:t>
            </a:r>
          </a:p>
          <a:p>
            <a:pPr marL="171450" indent="-171450">
              <a:buFont typeface="Wingdings"/>
              <a:buChar char="Ø"/>
            </a:pPr>
            <a:r>
              <a:rPr lang="en-US" baseline="0" dirty="0" smtClean="0"/>
              <a:t>A remarkable aspect of this mechanism is that a lot of the consequences of this molecular interaction, in terms of the level of activation of the T-cell, the specificity of this recognition and so on, is highly determined by structural features of the peptide-HLA complex.</a:t>
            </a:r>
          </a:p>
          <a:p>
            <a:endParaRPr lang="en-US" dirty="0" smtClean="0"/>
          </a:p>
          <a:p>
            <a:r>
              <a:rPr lang="en-US" dirty="0" smtClean="0"/>
              <a:t>REFs:</a:t>
            </a:r>
          </a:p>
          <a:p>
            <a:r>
              <a:rPr lang="en-US" dirty="0" smtClean="0"/>
              <a:t>[1] S</a:t>
            </a:r>
            <a:r>
              <a:rPr lang="en-US" sz="1200" i="0" kern="1200" dirty="0" smtClean="0">
                <a:solidFill>
                  <a:schemeClr val="tx1"/>
                </a:solidFill>
                <a:effectLst/>
                <a:latin typeface="+mn-lt"/>
                <a:ea typeface="+mn-ea"/>
                <a:cs typeface="+mn-cs"/>
              </a:rPr>
              <a:t>iegel RL, Miller KD, </a:t>
            </a:r>
            <a:r>
              <a:rPr lang="en-US" sz="1200" i="0" kern="1200" dirty="0" err="1" smtClean="0">
                <a:solidFill>
                  <a:schemeClr val="tx1"/>
                </a:solidFill>
                <a:effectLst/>
                <a:latin typeface="+mn-lt"/>
                <a:ea typeface="+mn-ea"/>
                <a:cs typeface="+mn-cs"/>
              </a:rPr>
              <a:t>Jemal</a:t>
            </a:r>
            <a:r>
              <a:rPr lang="en-US" sz="1200" i="0" kern="1200" dirty="0" smtClean="0">
                <a:solidFill>
                  <a:schemeClr val="tx1"/>
                </a:solidFill>
                <a:effectLst/>
                <a:latin typeface="+mn-lt"/>
                <a:ea typeface="+mn-ea"/>
                <a:cs typeface="+mn-cs"/>
              </a:rPr>
              <a:t> A. Cancer statistics, 2015. CA: a cancer journal for clinicians. 2016;66(1):7–30.</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doi:10.3322/caac.21332.</a:t>
            </a:r>
            <a:endParaRPr lang="en-US" dirty="0" smtClean="0"/>
          </a:p>
          <a:p>
            <a:r>
              <a:rPr lang="en-US" sz="1200" i="0" kern="1200" dirty="0" smtClean="0">
                <a:solidFill>
                  <a:schemeClr val="tx1"/>
                </a:solidFill>
                <a:effectLst/>
                <a:latin typeface="+mn-lt"/>
                <a:ea typeface="+mn-ea"/>
                <a:cs typeface="+mn-cs"/>
              </a:rPr>
              <a:t>[2] A. </a:t>
            </a:r>
            <a:r>
              <a:rPr lang="en-US" sz="1200" i="0" kern="1200" dirty="0" err="1" smtClean="0">
                <a:solidFill>
                  <a:schemeClr val="tx1"/>
                </a:solidFill>
                <a:effectLst/>
                <a:latin typeface="+mn-lt"/>
                <a:ea typeface="+mn-ea"/>
                <a:cs typeface="+mn-cs"/>
              </a:rPr>
              <a:t>Rotte</a:t>
            </a:r>
            <a:r>
              <a:rPr lang="en-US" sz="1200" i="0" kern="1200" dirty="0" smtClean="0">
                <a:solidFill>
                  <a:schemeClr val="tx1"/>
                </a:solidFill>
                <a:effectLst/>
                <a:latin typeface="+mn-lt"/>
                <a:ea typeface="+mn-ea"/>
                <a:cs typeface="+mn-cs"/>
              </a:rPr>
              <a:t>, M. </a:t>
            </a:r>
            <a:r>
              <a:rPr lang="en-US" sz="1200" i="0" kern="1200" dirty="0" err="1" smtClean="0">
                <a:solidFill>
                  <a:schemeClr val="tx1"/>
                </a:solidFill>
                <a:effectLst/>
                <a:latin typeface="+mn-lt"/>
                <a:ea typeface="+mn-ea"/>
                <a:cs typeface="+mn-cs"/>
              </a:rPr>
              <a:t>Bhandaru</a:t>
            </a:r>
            <a:r>
              <a:rPr lang="en-US" sz="1200" i="0" kern="1200" dirty="0" smtClean="0">
                <a:solidFill>
                  <a:schemeClr val="tx1"/>
                </a:solidFill>
                <a:effectLst/>
                <a:latin typeface="+mn-lt"/>
                <a:ea typeface="+mn-ea"/>
                <a:cs typeface="+mn-cs"/>
              </a:rPr>
              <a:t>, Y. Zhou, and K. J. </a:t>
            </a:r>
            <a:r>
              <a:rPr lang="en-US" sz="1200" i="0" kern="1200" dirty="0" err="1" smtClean="0">
                <a:solidFill>
                  <a:schemeClr val="tx1"/>
                </a:solidFill>
                <a:effectLst/>
                <a:latin typeface="+mn-lt"/>
                <a:ea typeface="+mn-ea"/>
                <a:cs typeface="+mn-cs"/>
              </a:rPr>
              <a:t>McElwee</a:t>
            </a:r>
            <a:r>
              <a:rPr lang="en-US" sz="1200" i="0" kern="1200" dirty="0" smtClean="0">
                <a:solidFill>
                  <a:schemeClr val="tx1"/>
                </a:solidFill>
                <a:effectLst/>
                <a:latin typeface="+mn-lt"/>
                <a:ea typeface="+mn-ea"/>
                <a:cs typeface="+mn-cs"/>
              </a:rPr>
              <a:t>. Immunotherapy of melanoma: present options and</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future promises. </a:t>
            </a:r>
            <a:r>
              <a:rPr lang="en-US" sz="1200" i="1" kern="1200" dirty="0" err="1" smtClean="0">
                <a:solidFill>
                  <a:schemeClr val="tx1"/>
                </a:solidFill>
                <a:effectLst/>
                <a:latin typeface="+mn-lt"/>
                <a:ea typeface="+mn-ea"/>
                <a:cs typeface="+mn-cs"/>
              </a:rPr>
              <a:t>Cancermetastasisreviews</a:t>
            </a:r>
            <a:r>
              <a:rPr lang="en-US" sz="1200" i="0" kern="1200" dirty="0" smtClean="0">
                <a:solidFill>
                  <a:schemeClr val="tx1"/>
                </a:solidFill>
                <a:effectLst/>
                <a:latin typeface="+mn-lt"/>
                <a:ea typeface="+mn-ea"/>
                <a:cs typeface="+mn-cs"/>
              </a:rPr>
              <a:t>, 34(1):115–28, mar 2015. ISSN 1573-7233. </a:t>
            </a:r>
            <a:r>
              <a:rPr lang="en-US" sz="1200" i="0" kern="1200" dirty="0" err="1" smtClean="0">
                <a:solidFill>
                  <a:schemeClr val="tx1"/>
                </a:solidFill>
                <a:effectLst/>
                <a:latin typeface="+mn-lt"/>
                <a:ea typeface="+mn-ea"/>
                <a:cs typeface="+mn-cs"/>
              </a:rPr>
              <a:t>doi</a:t>
            </a:r>
            <a:r>
              <a:rPr lang="en-US" sz="1200" i="0" kern="1200" dirty="0" smtClean="0">
                <a:solidFill>
                  <a:schemeClr val="tx1"/>
                </a:solidFill>
                <a:effectLst/>
                <a:latin typeface="+mn-lt"/>
                <a:ea typeface="+mn-ea"/>
                <a:cs typeface="+mn-cs"/>
              </a:rPr>
              <a:t>: 10.1007/s10555-</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014-9542-0. URL: http://www.ncbi.nlm.nih.gov/pubmed/25589384.</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[3] G. </a:t>
            </a:r>
            <a:r>
              <a:rPr lang="en-US" sz="1200" i="0" kern="1200" dirty="0" err="1" smtClean="0">
                <a:solidFill>
                  <a:schemeClr val="tx1"/>
                </a:solidFill>
                <a:effectLst/>
                <a:latin typeface="+mn-lt"/>
                <a:ea typeface="+mn-ea"/>
                <a:cs typeface="+mn-cs"/>
              </a:rPr>
              <a:t>Lizée</a:t>
            </a:r>
            <a:r>
              <a:rPr lang="en-US" sz="1200" i="0" kern="1200" dirty="0" smtClean="0">
                <a:solidFill>
                  <a:schemeClr val="tx1"/>
                </a:solidFill>
                <a:effectLst/>
                <a:latin typeface="+mn-lt"/>
                <a:ea typeface="+mn-ea"/>
                <a:cs typeface="+mn-cs"/>
              </a:rPr>
              <a:t>, W. W. </a:t>
            </a:r>
            <a:r>
              <a:rPr lang="en-US" sz="1200" i="0" kern="1200" dirty="0" err="1" smtClean="0">
                <a:solidFill>
                  <a:schemeClr val="tx1"/>
                </a:solidFill>
                <a:effectLst/>
                <a:latin typeface="+mn-lt"/>
                <a:ea typeface="+mn-ea"/>
                <a:cs typeface="+mn-cs"/>
              </a:rPr>
              <a:t>Overwijk</a:t>
            </a:r>
            <a:r>
              <a:rPr lang="en-US" sz="1200" i="0" kern="1200" dirty="0" smtClean="0">
                <a:solidFill>
                  <a:schemeClr val="tx1"/>
                </a:solidFill>
                <a:effectLst/>
                <a:latin typeface="+mn-lt"/>
                <a:ea typeface="+mn-ea"/>
                <a:cs typeface="+mn-cs"/>
              </a:rPr>
              <a:t>, L. </a:t>
            </a:r>
            <a:r>
              <a:rPr lang="en-US" sz="1200" i="0" kern="1200" dirty="0" err="1" smtClean="0">
                <a:solidFill>
                  <a:schemeClr val="tx1"/>
                </a:solidFill>
                <a:effectLst/>
                <a:latin typeface="+mn-lt"/>
                <a:ea typeface="+mn-ea"/>
                <a:cs typeface="+mn-cs"/>
              </a:rPr>
              <a:t>Radvanyi</a:t>
            </a:r>
            <a:r>
              <a:rPr lang="en-US" sz="1200" i="0" kern="1200" dirty="0" smtClean="0">
                <a:solidFill>
                  <a:schemeClr val="tx1"/>
                </a:solidFill>
                <a:effectLst/>
                <a:latin typeface="+mn-lt"/>
                <a:ea typeface="+mn-ea"/>
                <a:cs typeface="+mn-cs"/>
              </a:rPr>
              <a:t>, J. Gao, P. Sharma, and P. </a:t>
            </a:r>
            <a:r>
              <a:rPr lang="en-US" sz="1200" i="0" kern="1200" dirty="0" err="1" smtClean="0">
                <a:solidFill>
                  <a:schemeClr val="tx1"/>
                </a:solidFill>
                <a:effectLst/>
                <a:latin typeface="+mn-lt"/>
                <a:ea typeface="+mn-ea"/>
                <a:cs typeface="+mn-cs"/>
              </a:rPr>
              <a:t>Hwu</a:t>
            </a:r>
            <a:r>
              <a:rPr lang="en-US" sz="1200" i="0" kern="1200" dirty="0" smtClean="0">
                <a:solidFill>
                  <a:schemeClr val="tx1"/>
                </a:solidFill>
                <a:effectLst/>
                <a:latin typeface="+mn-lt"/>
                <a:ea typeface="+mn-ea"/>
                <a:cs typeface="+mn-cs"/>
              </a:rPr>
              <a:t>. Harnessing the power of the</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immune system to target cancer. </a:t>
            </a:r>
            <a:r>
              <a:rPr lang="en-US" sz="1200" i="1" kern="1200" dirty="0" smtClean="0">
                <a:solidFill>
                  <a:schemeClr val="tx1"/>
                </a:solidFill>
                <a:effectLst/>
                <a:latin typeface="+mn-lt"/>
                <a:ea typeface="+mn-ea"/>
                <a:cs typeface="+mn-cs"/>
              </a:rPr>
              <a:t>Annual review of medicine</a:t>
            </a:r>
            <a:r>
              <a:rPr lang="en-US" sz="1200" i="0" kern="1200" dirty="0" smtClean="0">
                <a:solidFill>
                  <a:schemeClr val="tx1"/>
                </a:solidFill>
                <a:effectLst/>
                <a:latin typeface="+mn-lt"/>
                <a:ea typeface="+mn-ea"/>
                <a:cs typeface="+mn-cs"/>
              </a:rPr>
              <a:t>, 64:71–90, 2013. ISSN 1545-326X. </a:t>
            </a:r>
            <a:r>
              <a:rPr lang="en-US" sz="1200" i="0" kern="1200" dirty="0" err="1" smtClean="0">
                <a:solidFill>
                  <a:schemeClr val="tx1"/>
                </a:solidFill>
                <a:effectLst/>
                <a:latin typeface="+mn-lt"/>
                <a:ea typeface="+mn-ea"/>
                <a:cs typeface="+mn-cs"/>
              </a:rPr>
              <a:t>doi</a:t>
            </a:r>
            <a:r>
              <a:rPr lang="en-US" sz="1200" i="0" kern="1200" dirty="0" smtClean="0">
                <a:solidFill>
                  <a:schemeClr val="tx1"/>
                </a:solidFill>
                <a:effectLst/>
                <a:latin typeface="+mn-lt"/>
                <a:ea typeface="+mn-ea"/>
                <a:cs typeface="+mn-cs"/>
              </a:rPr>
              <a:t>:</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10.1146/annurev-med-112311-083918. URL: http://www.ncbi.nlm.nih.gov/pubmed/23092383</a:t>
            </a:r>
          </a:p>
          <a:p>
            <a:r>
              <a:rPr lang="en-US" sz="1200" i="0" kern="1200" dirty="0" smtClean="0">
                <a:solidFill>
                  <a:schemeClr val="tx1"/>
                </a:solidFill>
                <a:effectLst/>
                <a:latin typeface="+mn-lt"/>
                <a:ea typeface="+mn-ea"/>
                <a:cs typeface="+mn-cs"/>
              </a:rPr>
              <a:t/>
            </a:r>
            <a:br>
              <a:rPr lang="en-US" sz="1200" i="0" kern="1200" dirty="0" smtClean="0">
                <a:solidFill>
                  <a:schemeClr val="tx1"/>
                </a:solidFill>
                <a:effectLst/>
                <a:latin typeface="+mn-lt"/>
                <a:ea typeface="+mn-ea"/>
                <a:cs typeface="+mn-cs"/>
              </a:rPr>
            </a:br>
            <a:r>
              <a:rPr lang="en-US" sz="1200" i="0" kern="1200" dirty="0" smtClean="0">
                <a:solidFill>
                  <a:schemeClr val="tx1"/>
                </a:solidFill>
                <a:effectLst/>
                <a:latin typeface="+mn-lt"/>
                <a:ea typeface="+mn-ea"/>
                <a:cs typeface="+mn-cs"/>
              </a:rPr>
              <a:t/>
            </a:r>
            <a:br>
              <a:rPr lang="en-US" sz="1200" i="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2</a:t>
            </a:fld>
            <a:endParaRPr lang="pt-BR"/>
          </a:p>
        </p:txBody>
      </p:sp>
    </p:spTree>
    <p:extLst>
      <p:ext uri="{BB962C8B-B14F-4D97-AF65-F5344CB8AC3E}">
        <p14:creationId xmlns:p14="http://schemas.microsoft.com/office/powerpoint/2010/main" val="1565191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To give you a better idea of the structure of this complex, here you have a cartoon</a:t>
            </a:r>
            <a:r>
              <a:rPr lang="en-US" baseline="0" dirty="0" smtClean="0"/>
              <a:t> representations of the two chains that form the HLA receptor, and a sticks representation of the peptide ligand bound to the HLA cleft.</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3</a:t>
            </a:fld>
            <a:endParaRPr lang="pt-BR"/>
          </a:p>
        </p:txBody>
      </p:sp>
    </p:spTree>
    <p:extLst>
      <p:ext uri="{BB962C8B-B14F-4D97-AF65-F5344CB8AC3E}">
        <p14:creationId xmlns:p14="http://schemas.microsoft.com/office/powerpoint/2010/main" val="1565191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This is the front view of</a:t>
            </a:r>
            <a:r>
              <a:rPr lang="en-US" baseline="0" dirty="0" smtClean="0"/>
              <a:t> the complex.</a:t>
            </a:r>
          </a:p>
          <a:p>
            <a:pPr marL="171450" indent="-171450">
              <a:buFont typeface="Wingdings"/>
              <a:buChar char="Ø"/>
            </a:pPr>
            <a:r>
              <a:rPr lang="en-US" baseline="0" dirty="0" smtClean="0"/>
              <a:t>If we rotate the structure, to have a better look at the side view, we can observe the shape adopted by the ligand upon binding, or its binding mode.</a:t>
            </a:r>
          </a:p>
          <a:p>
            <a:pPr marL="171450" indent="-171450">
              <a:buFont typeface="Wingdings"/>
              <a:buChar char="Ø"/>
            </a:pPr>
            <a:r>
              <a:rPr lang="en-US" baseline="0" dirty="0" smtClean="0"/>
              <a:t>And if we rotate again we can have a top view of the complex. Which can be represented in a way to show computed surface of the receptor and the exposed surface of the ligand.</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4</a:t>
            </a:fld>
            <a:endParaRPr lang="pt-BR"/>
          </a:p>
        </p:txBody>
      </p:sp>
    </p:spTree>
    <p:extLst>
      <p:ext uri="{BB962C8B-B14F-4D97-AF65-F5344CB8AC3E}">
        <p14:creationId xmlns:p14="http://schemas.microsoft.com/office/powerpoint/2010/main" val="1565191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Going</a:t>
            </a:r>
            <a:r>
              <a:rPr lang="en-US" baseline="0" dirty="0" smtClean="0"/>
              <a:t> one step forward, we can compute the electrostatic potential over this surface, here represented by colors (negatively charged regions in red, positive regions in blue).</a:t>
            </a:r>
          </a:p>
          <a:p>
            <a:pPr marL="171450" indent="-171450">
              <a:buFont typeface="Wingdings"/>
              <a:buChar char="Ø"/>
            </a:pPr>
            <a:r>
              <a:rPr lang="en-US" baseline="0" dirty="0" smtClean="0"/>
              <a:t>This is the surface exposed for interaction with the T-cell receptor. And as you can see, there is no boundaries between ligand and receptor, it is actually one combined surface. </a:t>
            </a:r>
          </a:p>
          <a:p>
            <a:pPr marL="171450" indent="-171450">
              <a:buFont typeface="Wingdings"/>
              <a:buChar char="Ø"/>
            </a:pPr>
            <a:r>
              <a:rPr lang="en-US" baseline="0" dirty="0" smtClean="0"/>
              <a:t>And this is a very important point, because each individual has a different subset of HLAs.</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5</a:t>
            </a:fld>
            <a:endParaRPr lang="pt-BR"/>
          </a:p>
        </p:txBody>
      </p:sp>
    </p:spTree>
    <p:extLst>
      <p:ext uri="{BB962C8B-B14F-4D97-AF65-F5344CB8AC3E}">
        <p14:creationId xmlns:p14="http://schemas.microsoft.com/office/powerpoint/2010/main" val="1565191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These receptors are encoded by the most polymorphic genes</a:t>
            </a:r>
            <a:r>
              <a:rPr lang="en-US" baseline="0" dirty="0" smtClean="0"/>
              <a:t> in the human genome, and there are more than 10,000 alleles of the so called class I HLA genes (referred to as HLA-A, HLA-B, HLA-C). And each person will have two sets of these genes, therefore up to 6 different class I HLA receptors. </a:t>
            </a:r>
          </a:p>
          <a:p>
            <a:pPr marL="171450" indent="-171450">
              <a:buFont typeface="Wingdings"/>
              <a:buChar char="Ø"/>
            </a:pPr>
            <a:r>
              <a:rPr lang="en-US" baseline="0" dirty="0" smtClean="0"/>
              <a:t>And each different HLA receptor will bind different subsets of peptides, they have affinity for different sequences. And even if you some overlap, that two HLAs can bind to the same peptide, they likely to present them in a different way.  </a:t>
            </a:r>
          </a:p>
        </p:txBody>
      </p:sp>
      <p:sp>
        <p:nvSpPr>
          <p:cNvPr id="4" name="Slide Number Placeholder 3"/>
          <p:cNvSpPr>
            <a:spLocks noGrp="1"/>
          </p:cNvSpPr>
          <p:nvPr>
            <p:ph type="sldNum" sz="quarter" idx="10"/>
          </p:nvPr>
        </p:nvSpPr>
        <p:spPr/>
        <p:txBody>
          <a:bodyPr/>
          <a:lstStyle/>
          <a:p>
            <a:fld id="{379323F8-D4AB-4AFA-BF7B-92DA072ACC5A}" type="slidenum">
              <a:rPr lang="pt-BR" smtClean="0"/>
              <a:pPr/>
              <a:t>6</a:t>
            </a:fld>
            <a:endParaRPr lang="pt-BR"/>
          </a:p>
        </p:txBody>
      </p:sp>
    </p:spTree>
    <p:extLst>
      <p:ext uri="{BB962C8B-B14F-4D97-AF65-F5344CB8AC3E}">
        <p14:creationId xmlns:p14="http://schemas.microsoft.com/office/powerpoint/2010/main" val="624106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baseline="0" dirty="0" smtClean="0"/>
              <a:t>So if we are considering structural analyses of these complexes for immunotherapy applications, we must do it in a personalized fashion. </a:t>
            </a:r>
            <a:endParaRPr lang="en-US" dirty="0" smtClean="0"/>
          </a:p>
          <a:p>
            <a:pPr marL="171450" indent="-171450">
              <a:buFont typeface="Wingdings"/>
              <a:buChar char="Ø"/>
            </a:pPr>
            <a:r>
              <a:rPr lang="en-US" dirty="0" smtClean="0"/>
              <a:t>We</a:t>
            </a:r>
            <a:r>
              <a:rPr lang="en-US" baseline="0" dirty="0" smtClean="0"/>
              <a:t> must consider the HLAs of the patient and predict the tumor peptides that bind to these specific HLAs. </a:t>
            </a:r>
          </a:p>
          <a:p>
            <a:pPr marL="171450" indent="-171450">
              <a:buFont typeface="Wingdings"/>
              <a:buChar char="Ø"/>
            </a:pPr>
            <a:endParaRPr lang="en-US" baseline="0" dirty="0" smtClean="0"/>
          </a:p>
          <a:p>
            <a:pPr marL="171450" indent="-171450">
              <a:buFont typeface="Wingdings"/>
              <a:buChar char="Ø"/>
            </a:pPr>
            <a:r>
              <a:rPr lang="en-US" baseline="0" dirty="0" smtClean="0"/>
              <a:t>And this challenge is not suited for experimental methods, given the costs and time needed to perform experimental structural analyses of proteins.</a:t>
            </a:r>
          </a:p>
        </p:txBody>
      </p:sp>
      <p:sp>
        <p:nvSpPr>
          <p:cNvPr id="4" name="Slide Number Placeholder 3"/>
          <p:cNvSpPr>
            <a:spLocks noGrp="1"/>
          </p:cNvSpPr>
          <p:nvPr>
            <p:ph type="sldNum" sz="quarter" idx="10"/>
          </p:nvPr>
        </p:nvSpPr>
        <p:spPr/>
        <p:txBody>
          <a:bodyPr/>
          <a:lstStyle/>
          <a:p>
            <a:fld id="{379323F8-D4AB-4AFA-BF7B-92DA072ACC5A}" type="slidenum">
              <a:rPr lang="pt-BR" smtClean="0"/>
              <a:pPr/>
              <a:t>7</a:t>
            </a:fld>
            <a:endParaRPr lang="pt-BR"/>
          </a:p>
        </p:txBody>
      </p:sp>
    </p:spTree>
    <p:extLst>
      <p:ext uri="{BB962C8B-B14F-4D97-AF65-F5344CB8AC3E}">
        <p14:creationId xmlns:p14="http://schemas.microsoft.com/office/powerpoint/2010/main" val="624106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Therefore, our goal</a:t>
            </a:r>
            <a:r>
              <a:rPr lang="en-US" baseline="0" dirty="0" smtClean="0"/>
              <a:t> is to use computational methods to perform…</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8</a:t>
            </a:fld>
            <a:endParaRPr lang="pt-BR"/>
          </a:p>
        </p:txBody>
      </p:sp>
    </p:spTree>
    <p:extLst>
      <p:ext uri="{BB962C8B-B14F-4D97-AF65-F5344CB8AC3E}">
        <p14:creationId xmlns:p14="http://schemas.microsoft.com/office/powerpoint/2010/main" val="624106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The most obvious choice for</a:t>
            </a:r>
            <a:r>
              <a:rPr lang="en-US" baseline="0" dirty="0" smtClean="0"/>
              <a:t> this task is Molecular Docking, which is a computational tool to predict the binding mode of protein-ligand complexes. Besides exploring alternative orientations of the ligand, these tools also account for ligand flexibility, exploring different arrangements of all internal degrees of freedom.</a:t>
            </a:r>
          </a:p>
          <a:p>
            <a:pPr marL="171450" indent="-171450">
              <a:buFont typeface="Wingdings"/>
              <a:buChar char="Ø"/>
            </a:pPr>
            <a:r>
              <a:rPr lang="en-US" baseline="0" dirty="0" smtClean="0"/>
              <a:t>These tools are commonly used to predict the structure (or geometry) of unknown complexes, and also to perform fast virtual screening of large datasets of potential ligands. </a:t>
            </a:r>
          </a:p>
          <a:p>
            <a:pPr marL="171450" indent="-171450">
              <a:buFont typeface="Wingdings"/>
              <a:buChar char="Ø"/>
            </a:pPr>
            <a:r>
              <a:rPr lang="en-US" baseline="0" dirty="0" smtClean="0"/>
              <a:t>But as you might expect, the number of combinations that must be tested increases with the number of degrees of freedom. And current docking methods are mostly recommended for small drug-like ligands with up to 10 </a:t>
            </a:r>
            <a:r>
              <a:rPr lang="en-US" baseline="0" dirty="0" err="1" smtClean="0"/>
              <a:t>DoFs</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9</a:t>
            </a:fld>
            <a:endParaRPr lang="pt-BR"/>
          </a:p>
        </p:txBody>
      </p:sp>
    </p:spTree>
    <p:extLst>
      <p:ext uri="{BB962C8B-B14F-4D97-AF65-F5344CB8AC3E}">
        <p14:creationId xmlns:p14="http://schemas.microsoft.com/office/powerpoint/2010/main" val="624106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To give you an updated picture</a:t>
            </a:r>
            <a:r>
              <a:rPr lang="en-US" baseline="0" dirty="0" smtClean="0"/>
              <a:t>, </a:t>
            </a:r>
            <a:r>
              <a:rPr lang="en-US" dirty="0" smtClean="0"/>
              <a:t>this w</a:t>
            </a:r>
            <a:r>
              <a:rPr lang="en-US" baseline="0" dirty="0" smtClean="0"/>
              <a:t>ork from last year evaluated some well known docking methods (listed in the rows) using ligands of different sizes (sorted in the columns). And here you can see their results as a </a:t>
            </a:r>
            <a:r>
              <a:rPr lang="en-US" baseline="0" dirty="0" err="1" smtClean="0"/>
              <a:t>hitmap</a:t>
            </a:r>
            <a:r>
              <a:rPr lang="en-US" baseline="0" dirty="0" smtClean="0"/>
              <a:t>, the darker blue the better.</a:t>
            </a:r>
          </a:p>
          <a:p>
            <a:pPr marL="171450" indent="-171450">
              <a:buFont typeface="Wingdings"/>
              <a:buChar char="Ø"/>
            </a:pPr>
            <a:r>
              <a:rPr lang="en-US" baseline="0" dirty="0" smtClean="0"/>
              <a:t>You can clearly see the performance decay after 10 </a:t>
            </a:r>
            <a:r>
              <a:rPr lang="en-US" baseline="0" dirty="0" err="1" smtClean="0"/>
              <a:t>DoF</a:t>
            </a:r>
            <a:r>
              <a:rPr lang="en-US" baseline="0" dirty="0" smtClean="0"/>
              <a:t> and after 25 </a:t>
            </a:r>
            <a:r>
              <a:rPr lang="en-US" baseline="0" dirty="0" err="1" smtClean="0"/>
              <a:t>DoF</a:t>
            </a:r>
            <a:r>
              <a:rPr lang="en-US" baseline="0" dirty="0" smtClean="0"/>
              <a:t> you have almost no good results.</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10</a:t>
            </a:fld>
            <a:endParaRPr lang="pt-BR"/>
          </a:p>
        </p:txBody>
      </p:sp>
    </p:spTree>
    <p:extLst>
      <p:ext uri="{BB962C8B-B14F-4D97-AF65-F5344CB8AC3E}">
        <p14:creationId xmlns:p14="http://schemas.microsoft.com/office/powerpoint/2010/main" val="624106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And now you can appreciate the challenge of peptide-HLA prediction, since the ligands in this context</a:t>
            </a:r>
            <a:r>
              <a:rPr lang="en-US" baseline="0" dirty="0" smtClean="0"/>
              <a:t> are peptides usually 8 to 11 </a:t>
            </a:r>
            <a:r>
              <a:rPr lang="en-US" baseline="0" dirty="0" err="1" smtClean="0"/>
              <a:t>aa</a:t>
            </a:r>
            <a:r>
              <a:rPr lang="en-US" baseline="0" dirty="0" smtClean="0"/>
              <a:t> long, which </a:t>
            </a:r>
            <a:r>
              <a:rPr lang="en-US" baseline="0" smtClean="0"/>
              <a:t>usually means more </a:t>
            </a:r>
            <a:r>
              <a:rPr lang="en-US" baseline="0" dirty="0" smtClean="0"/>
              <a:t>than 29 </a:t>
            </a:r>
            <a:r>
              <a:rPr lang="en-US" baseline="0" dirty="0" err="1" smtClean="0"/>
              <a:t>DoFs</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11</a:t>
            </a:fld>
            <a:endParaRPr lang="pt-BR"/>
          </a:p>
        </p:txBody>
      </p:sp>
    </p:spTree>
    <p:extLst>
      <p:ext uri="{BB962C8B-B14F-4D97-AF65-F5344CB8AC3E}">
        <p14:creationId xmlns:p14="http://schemas.microsoft.com/office/powerpoint/2010/main" val="1565191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During the last 13 years or so, many groups have tackled this challenge</a:t>
            </a:r>
          </a:p>
          <a:p>
            <a:pPr marL="171450" indent="-171450">
              <a:buFont typeface="Wingdings"/>
              <a:buChar char="Ø"/>
            </a:pPr>
            <a:r>
              <a:rPr lang="en-US" baseline="0" dirty="0" smtClean="0"/>
              <a:t>But since the flexibility of peptides is such a strong barrier for most docking-based approaches, the best alternative so far has been to provide ad hoc solutions.</a:t>
            </a:r>
          </a:p>
          <a:p>
            <a:pPr marL="171450" indent="-171450">
              <a:buFont typeface="Wingdings"/>
              <a:buChar char="Ø"/>
            </a:pPr>
            <a:r>
              <a:rPr lang="en-US" baseline="0" dirty="0" smtClean="0"/>
              <a:t>Using information from crystal structures or using expert-knowledge to somehow constrain or bias the search.</a:t>
            </a:r>
          </a:p>
          <a:p>
            <a:pPr marL="171450" indent="-171450">
              <a:buFont typeface="Wingdings"/>
              <a:buChar char="Ø"/>
            </a:pPr>
            <a:r>
              <a:rPr lang="en-US" baseline="0" dirty="0" smtClean="0"/>
              <a:t>Which means that these solutions only work for a few HLAs for which we have enough data. And if you remember the 10,000 HLA alleles that I have mentioned before, you will understand that a general solution is needed if we hope to provide personalized predictions</a:t>
            </a:r>
            <a:endParaRPr lang="en-US" dirty="0"/>
          </a:p>
        </p:txBody>
      </p:sp>
      <p:sp>
        <p:nvSpPr>
          <p:cNvPr id="4" name="Slide Number Placeholder 3"/>
          <p:cNvSpPr>
            <a:spLocks noGrp="1"/>
          </p:cNvSpPr>
          <p:nvPr>
            <p:ph type="sldNum" sz="quarter" idx="10"/>
          </p:nvPr>
        </p:nvSpPr>
        <p:spPr/>
        <p:txBody>
          <a:bodyPr/>
          <a:lstStyle/>
          <a:p>
            <a:fld id="{379323F8-D4AB-4AFA-BF7B-92DA072ACC5A}" type="slidenum">
              <a:rPr lang="pt-BR" smtClean="0"/>
              <a:pPr/>
              <a:t>12</a:t>
            </a:fld>
            <a:endParaRPr lang="pt-BR"/>
          </a:p>
        </p:txBody>
      </p:sp>
    </p:spTree>
    <p:extLst>
      <p:ext uri="{BB962C8B-B14F-4D97-AF65-F5344CB8AC3E}">
        <p14:creationId xmlns:p14="http://schemas.microsoft.com/office/powerpoint/2010/main" val="1565191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a:buChar char="Ø"/>
            </a:pPr>
            <a:r>
              <a:rPr lang="en-US" dirty="0" smtClean="0"/>
              <a:t>Looking for an alternative solution, our</a:t>
            </a:r>
            <a:r>
              <a:rPr lang="en-US" baseline="0" dirty="0" smtClean="0"/>
              <a:t> group has developed an incremental meta-docking approach. Instead of docking the entire peptide at once, like this 8-mer with 30 </a:t>
            </a:r>
            <a:r>
              <a:rPr lang="en-US" baseline="0" dirty="0" err="1" smtClean="0"/>
              <a:t>DoFs</a:t>
            </a:r>
            <a:r>
              <a:rPr lang="en-US" baseline="0" dirty="0" smtClean="0"/>
              <a:t>, we select a small fragment of this ligand, with a small number of </a:t>
            </a:r>
            <a:r>
              <a:rPr lang="en-US" baseline="0" dirty="0" err="1" smtClean="0"/>
              <a:t>DoFs</a:t>
            </a:r>
            <a:r>
              <a:rPr lang="en-US" baseline="0" dirty="0" smtClean="0"/>
              <a:t> (indicated in green), and we run a molecular docking using a standard docking tool, such as AD4</a:t>
            </a:r>
          </a:p>
        </p:txBody>
      </p:sp>
      <p:sp>
        <p:nvSpPr>
          <p:cNvPr id="4" name="Slide Number Placeholder 3"/>
          <p:cNvSpPr>
            <a:spLocks noGrp="1"/>
          </p:cNvSpPr>
          <p:nvPr>
            <p:ph type="sldNum" sz="quarter" idx="10"/>
          </p:nvPr>
        </p:nvSpPr>
        <p:spPr/>
        <p:txBody>
          <a:bodyPr/>
          <a:lstStyle/>
          <a:p>
            <a:fld id="{379323F8-D4AB-4AFA-BF7B-92DA072ACC5A}" type="slidenum">
              <a:rPr lang="pt-BR" smtClean="0"/>
              <a:pPr/>
              <a:t>13</a:t>
            </a:fld>
            <a:endParaRPr lang="pt-BR"/>
          </a:p>
        </p:txBody>
      </p:sp>
    </p:spTree>
    <p:extLst>
      <p:ext uri="{BB962C8B-B14F-4D97-AF65-F5344CB8AC3E}">
        <p14:creationId xmlns:p14="http://schemas.microsoft.com/office/powerpoint/2010/main" val="1565191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5" name="Footer Placeholder 4"/>
          <p:cNvSpPr>
            <a:spLocks noGrp="1"/>
          </p:cNvSpPr>
          <p:nvPr>
            <p:ph type="ftr" sz="quarter" idx="11"/>
          </p:nvPr>
        </p:nvSpPr>
        <p:spPr/>
        <p:txBody>
          <a:bodyPr/>
          <a:lstStyle/>
          <a:p>
            <a:pPr>
              <a:defRPr/>
            </a:pPr>
            <a:endParaRPr lang="pt-BR"/>
          </a:p>
        </p:txBody>
      </p:sp>
      <p:sp>
        <p:nvSpPr>
          <p:cNvPr id="6" name="Slide Number Placeholder 5"/>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159319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5" name="Footer Placeholder 4"/>
          <p:cNvSpPr>
            <a:spLocks noGrp="1"/>
          </p:cNvSpPr>
          <p:nvPr>
            <p:ph type="ftr" sz="quarter" idx="11"/>
          </p:nvPr>
        </p:nvSpPr>
        <p:spPr/>
        <p:txBody>
          <a:bodyPr/>
          <a:lstStyle/>
          <a:p>
            <a:pPr>
              <a:defRPr/>
            </a:pPr>
            <a:endParaRPr lang="pt-BR"/>
          </a:p>
        </p:txBody>
      </p:sp>
      <p:sp>
        <p:nvSpPr>
          <p:cNvPr id="6" name="Slide Number Placeholder 5"/>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3880001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5" name="Footer Placeholder 4"/>
          <p:cNvSpPr>
            <a:spLocks noGrp="1"/>
          </p:cNvSpPr>
          <p:nvPr>
            <p:ph type="ftr" sz="quarter" idx="11"/>
          </p:nvPr>
        </p:nvSpPr>
        <p:spPr/>
        <p:txBody>
          <a:bodyPr/>
          <a:lstStyle/>
          <a:p>
            <a:pPr>
              <a:defRPr/>
            </a:pPr>
            <a:endParaRPr lang="pt-BR"/>
          </a:p>
        </p:txBody>
      </p:sp>
      <p:sp>
        <p:nvSpPr>
          <p:cNvPr id="6" name="Slide Number Placeholder 5"/>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2577264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6" name="Footer Placeholder 5"/>
          <p:cNvSpPr>
            <a:spLocks noGrp="1"/>
          </p:cNvSpPr>
          <p:nvPr>
            <p:ph type="ftr" sz="quarter" idx="11"/>
          </p:nvPr>
        </p:nvSpPr>
        <p:spPr/>
        <p:txBody>
          <a:bodyPr/>
          <a:lstStyle/>
          <a:p>
            <a:pPr>
              <a:defRPr/>
            </a:pPr>
            <a:endParaRPr lang="pt-BR"/>
          </a:p>
        </p:txBody>
      </p:sp>
      <p:sp>
        <p:nvSpPr>
          <p:cNvPr id="7" name="Slide Number Placeholder 6"/>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2958054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8" name="Footer Placeholder 7"/>
          <p:cNvSpPr>
            <a:spLocks noGrp="1"/>
          </p:cNvSpPr>
          <p:nvPr>
            <p:ph type="ftr" sz="quarter" idx="11"/>
          </p:nvPr>
        </p:nvSpPr>
        <p:spPr/>
        <p:txBody>
          <a:bodyPr/>
          <a:lstStyle/>
          <a:p>
            <a:pPr>
              <a:defRPr/>
            </a:pPr>
            <a:endParaRPr lang="pt-BR"/>
          </a:p>
        </p:txBody>
      </p:sp>
      <p:sp>
        <p:nvSpPr>
          <p:cNvPr id="9" name="Slide Number Placeholder 8"/>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1567346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4" name="Footer Placeholder 3"/>
          <p:cNvSpPr>
            <a:spLocks noGrp="1"/>
          </p:cNvSpPr>
          <p:nvPr>
            <p:ph type="ftr" sz="quarter" idx="11"/>
          </p:nvPr>
        </p:nvSpPr>
        <p:spPr/>
        <p:txBody>
          <a:bodyPr/>
          <a:lstStyle/>
          <a:p>
            <a:pPr>
              <a:defRPr/>
            </a:pPr>
            <a:endParaRPr lang="pt-BR"/>
          </a:p>
        </p:txBody>
      </p:sp>
      <p:sp>
        <p:nvSpPr>
          <p:cNvPr id="5" name="Slide Number Placeholder 4"/>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425671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3" name="Footer Placeholder 2"/>
          <p:cNvSpPr>
            <a:spLocks noGrp="1"/>
          </p:cNvSpPr>
          <p:nvPr>
            <p:ph type="ftr" sz="quarter" idx="11"/>
          </p:nvPr>
        </p:nvSpPr>
        <p:spPr/>
        <p:txBody>
          <a:bodyPr/>
          <a:lstStyle/>
          <a:p>
            <a:pPr>
              <a:defRPr/>
            </a:pPr>
            <a:endParaRPr lang="pt-BR"/>
          </a:p>
        </p:txBody>
      </p:sp>
      <p:sp>
        <p:nvSpPr>
          <p:cNvPr id="4" name="Slide Number Placeholder 3"/>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341283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6" name="Footer Placeholder 5"/>
          <p:cNvSpPr>
            <a:spLocks noGrp="1"/>
          </p:cNvSpPr>
          <p:nvPr>
            <p:ph type="ftr" sz="quarter" idx="11"/>
          </p:nvPr>
        </p:nvSpPr>
        <p:spPr/>
        <p:txBody>
          <a:bodyPr/>
          <a:lstStyle/>
          <a:p>
            <a:pPr>
              <a:defRPr/>
            </a:pPr>
            <a:endParaRPr lang="pt-BR"/>
          </a:p>
        </p:txBody>
      </p:sp>
      <p:sp>
        <p:nvSpPr>
          <p:cNvPr id="7" name="Slide Number Placeholder 6"/>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3842082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6" name="Footer Placeholder 5"/>
          <p:cNvSpPr>
            <a:spLocks noGrp="1"/>
          </p:cNvSpPr>
          <p:nvPr>
            <p:ph type="ftr" sz="quarter" idx="11"/>
          </p:nvPr>
        </p:nvSpPr>
        <p:spPr/>
        <p:txBody>
          <a:bodyPr/>
          <a:lstStyle/>
          <a:p>
            <a:pPr>
              <a:defRPr/>
            </a:pPr>
            <a:endParaRPr lang="pt-BR"/>
          </a:p>
        </p:txBody>
      </p:sp>
      <p:sp>
        <p:nvSpPr>
          <p:cNvPr id="7" name="Slide Number Placeholder 6"/>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704320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5" name="Footer Placeholder 4"/>
          <p:cNvSpPr>
            <a:spLocks noGrp="1"/>
          </p:cNvSpPr>
          <p:nvPr>
            <p:ph type="ftr" sz="quarter" idx="11"/>
          </p:nvPr>
        </p:nvSpPr>
        <p:spPr/>
        <p:txBody>
          <a:bodyPr/>
          <a:lstStyle/>
          <a:p>
            <a:pPr>
              <a:defRPr/>
            </a:pPr>
            <a:endParaRPr lang="pt-BR"/>
          </a:p>
        </p:txBody>
      </p:sp>
      <p:sp>
        <p:nvSpPr>
          <p:cNvPr id="6" name="Slide Number Placeholder 5"/>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758183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61380BC5-BB61-45AA-9722-46A3E6B54104}" type="datetimeFigureOut">
              <a:rPr lang="pt-BR" smtClean="0"/>
              <a:pPr>
                <a:defRPr/>
              </a:pPr>
              <a:t>23/09/2018</a:t>
            </a:fld>
            <a:endParaRPr lang="pt-BR"/>
          </a:p>
        </p:txBody>
      </p:sp>
      <p:sp>
        <p:nvSpPr>
          <p:cNvPr id="5" name="Footer Placeholder 4"/>
          <p:cNvSpPr>
            <a:spLocks noGrp="1"/>
          </p:cNvSpPr>
          <p:nvPr>
            <p:ph type="ftr" sz="quarter" idx="11"/>
          </p:nvPr>
        </p:nvSpPr>
        <p:spPr/>
        <p:txBody>
          <a:bodyPr/>
          <a:lstStyle/>
          <a:p>
            <a:pPr>
              <a:defRPr/>
            </a:pPr>
            <a:endParaRPr lang="pt-BR"/>
          </a:p>
        </p:txBody>
      </p:sp>
      <p:sp>
        <p:nvSpPr>
          <p:cNvPr id="6" name="Slide Number Placeholder 5"/>
          <p:cNvSpPr>
            <a:spLocks noGrp="1"/>
          </p:cNvSpPr>
          <p:nvPr>
            <p:ph type="sldNum" sz="quarter" idx="12"/>
          </p:nvPr>
        </p:nvSpPr>
        <p:spPr/>
        <p:txBody>
          <a:body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3845414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61380BC5-BB61-45AA-9722-46A3E6B54104}" type="datetimeFigureOut">
              <a:rPr lang="pt-BR" smtClean="0"/>
              <a:pPr>
                <a:defRPr/>
              </a:pPr>
              <a:t>23/09/2018</a:t>
            </a:fld>
            <a:endParaRPr lang="pt-B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pt-B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0F523321-3546-4995-BAB1-3CB6FDFF430D}" type="slidenum">
              <a:rPr lang="pt-BR" smtClean="0"/>
              <a:pPr>
                <a:defRPr/>
              </a:pPr>
              <a:t>‹#›</a:t>
            </a:fld>
            <a:endParaRPr lang="pt-BR"/>
          </a:p>
        </p:txBody>
      </p:sp>
    </p:spTree>
    <p:extLst>
      <p:ext uri="{BB962C8B-B14F-4D97-AF65-F5344CB8AC3E}">
        <p14:creationId xmlns:p14="http://schemas.microsoft.com/office/powerpoint/2010/main" val="1019706312"/>
      </p:ext>
    </p:extLst>
  </p:cSld>
  <p:clrMap bg1="lt1" tx1="dk1" bg2="lt2" tx2="dk2" accent1="accent1" accent2="accent2" accent3="accent3" accent4="accent4" accent5="accent5" accent6="accent6" hlink="hlink" folHlink="folHlink"/>
  <p:sldLayoutIdLst>
    <p:sldLayoutId id="2147484279" r:id="rId1"/>
    <p:sldLayoutId id="2147484280" r:id="rId2"/>
    <p:sldLayoutId id="2147484281" r:id="rId3"/>
    <p:sldLayoutId id="2147484282" r:id="rId4"/>
    <p:sldLayoutId id="2147484283" r:id="rId5"/>
    <p:sldLayoutId id="2147484284" r:id="rId6"/>
    <p:sldLayoutId id="2147484285" r:id="rId7"/>
    <p:sldLayoutId id="2147484286" r:id="rId8"/>
    <p:sldLayoutId id="2147484287" r:id="rId9"/>
    <p:sldLayoutId id="2147484288" r:id="rId10"/>
    <p:sldLayoutId id="214748428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gif"/><Relationship Id="rId4" Type="http://schemas.openxmlformats.org/officeDocument/2006/relationships/image" Target="../media/image5.png"/><Relationship Id="rId9" Type="http://schemas.openxmlformats.org/officeDocument/2006/relationships/image" Target="../media/image10.gif"/></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avi"/><Relationship Id="rId1" Type="http://schemas.microsoft.com/office/2007/relationships/media" Target="../media/media1.avi"/><Relationship Id="rId5" Type="http://schemas.openxmlformats.org/officeDocument/2006/relationships/image" Target="../media/image1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1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16401"/>
          <a:stretch/>
        </p:blipFill>
        <p:spPr>
          <a:xfrm>
            <a:off x="0" y="-27384"/>
            <a:ext cx="9144000" cy="5733256"/>
          </a:xfrm>
          <a:prstGeom prst="rect">
            <a:avLst/>
          </a:prstGeom>
        </p:spPr>
      </p:pic>
      <p:sp>
        <p:nvSpPr>
          <p:cNvPr id="2" name="Título 1"/>
          <p:cNvSpPr>
            <a:spLocks noGrp="1"/>
          </p:cNvSpPr>
          <p:nvPr>
            <p:ph type="ctrTitle"/>
          </p:nvPr>
        </p:nvSpPr>
        <p:spPr>
          <a:xfrm>
            <a:off x="0" y="-27384"/>
            <a:ext cx="9144000" cy="2592288"/>
          </a:xfrm>
          <a:ln>
            <a:miter lim="800000"/>
            <a:headEnd/>
            <a:tailEnd/>
          </a:ln>
        </p:spPr>
        <p:txBody>
          <a:bodyPr>
            <a:normAutofit/>
          </a:bodyPr>
          <a:lstStyle/>
          <a:p>
            <a:pPr>
              <a:defRPr/>
            </a:pPr>
            <a:r>
              <a:rPr lang="en-US" sz="3600" b="1" spc="50" dirty="0">
                <a:ln w="0"/>
                <a:solidFill>
                  <a:schemeClr val="bg2"/>
                </a:solidFill>
                <a:effectLst>
                  <a:innerShdw blurRad="63500" dist="50800" dir="13500000">
                    <a:srgbClr val="000000">
                      <a:alpha val="50000"/>
                    </a:srgbClr>
                  </a:innerShdw>
                </a:effectLst>
                <a:latin typeface="Trebuchet MS" panose="020B0603020202020204" pitchFamily="34" charset="0"/>
              </a:rPr>
              <a:t>Structure-based selection of </a:t>
            </a:r>
            <a:r>
              <a:rPr lang="en-US" sz="3600" b="1" spc="50" dirty="0" smtClean="0">
                <a:ln w="0"/>
                <a:solidFill>
                  <a:schemeClr val="bg2"/>
                </a:solidFill>
                <a:effectLst>
                  <a:innerShdw blurRad="63500" dist="50800" dir="13500000">
                    <a:srgbClr val="000000">
                      <a:alpha val="50000"/>
                    </a:srgbClr>
                  </a:innerShdw>
                </a:effectLst>
                <a:latin typeface="Trebuchet MS" panose="020B0603020202020204" pitchFamily="34" charset="0"/>
              </a:rPr>
              <a:t/>
            </a:r>
            <a:br>
              <a:rPr lang="en-US" sz="3600" b="1" spc="50" dirty="0" smtClean="0">
                <a:ln w="0"/>
                <a:solidFill>
                  <a:schemeClr val="bg2"/>
                </a:solidFill>
                <a:effectLst>
                  <a:innerShdw blurRad="63500" dist="50800" dir="13500000">
                    <a:srgbClr val="000000">
                      <a:alpha val="50000"/>
                    </a:srgbClr>
                  </a:innerShdw>
                </a:effectLst>
                <a:latin typeface="Trebuchet MS" panose="020B0603020202020204" pitchFamily="34" charset="0"/>
              </a:rPr>
            </a:br>
            <a:r>
              <a:rPr lang="en-US" sz="3600" b="1" spc="50" dirty="0" smtClean="0">
                <a:ln w="0"/>
                <a:solidFill>
                  <a:schemeClr val="bg2"/>
                </a:solidFill>
                <a:effectLst>
                  <a:innerShdw blurRad="63500" dist="50800" dir="13500000">
                    <a:srgbClr val="000000">
                      <a:alpha val="50000"/>
                    </a:srgbClr>
                  </a:innerShdw>
                </a:effectLst>
                <a:latin typeface="Trebuchet MS" panose="020B0603020202020204" pitchFamily="34" charset="0"/>
              </a:rPr>
              <a:t>tumor-antigens </a:t>
            </a:r>
            <a:r>
              <a:rPr lang="en-US" sz="3600" b="1" spc="50" dirty="0">
                <a:ln w="0"/>
                <a:solidFill>
                  <a:schemeClr val="bg2"/>
                </a:solidFill>
                <a:effectLst>
                  <a:innerShdw blurRad="63500" dist="50800" dir="13500000">
                    <a:srgbClr val="000000">
                      <a:alpha val="50000"/>
                    </a:srgbClr>
                  </a:innerShdw>
                </a:effectLst>
                <a:latin typeface="Trebuchet MS" panose="020B0603020202020204" pitchFamily="34" charset="0"/>
              </a:rPr>
              <a:t>for </a:t>
            </a:r>
            <a:r>
              <a:rPr lang="en-US" sz="3600" b="1" spc="50" dirty="0" smtClean="0">
                <a:ln w="0"/>
                <a:solidFill>
                  <a:schemeClr val="bg2"/>
                </a:solidFill>
                <a:effectLst>
                  <a:innerShdw blurRad="63500" dist="50800" dir="13500000">
                    <a:srgbClr val="000000">
                      <a:alpha val="50000"/>
                    </a:srgbClr>
                  </a:innerShdw>
                </a:effectLst>
                <a:latin typeface="Trebuchet MS" panose="020B0603020202020204" pitchFamily="34" charset="0"/>
              </a:rPr>
              <a:t/>
            </a:r>
            <a:br>
              <a:rPr lang="en-US" sz="3600" b="1" spc="50" dirty="0" smtClean="0">
                <a:ln w="0"/>
                <a:solidFill>
                  <a:schemeClr val="bg2"/>
                </a:solidFill>
                <a:effectLst>
                  <a:innerShdw blurRad="63500" dist="50800" dir="13500000">
                    <a:srgbClr val="000000">
                      <a:alpha val="50000"/>
                    </a:srgbClr>
                  </a:innerShdw>
                </a:effectLst>
                <a:latin typeface="Trebuchet MS" panose="020B0603020202020204" pitchFamily="34" charset="0"/>
              </a:rPr>
            </a:br>
            <a:r>
              <a:rPr lang="en-US" sz="3600" b="1" spc="50" dirty="0" smtClean="0">
                <a:ln w="0"/>
                <a:solidFill>
                  <a:schemeClr val="bg2"/>
                </a:solidFill>
                <a:effectLst>
                  <a:innerShdw blurRad="63500" dist="50800" dir="13500000">
                    <a:srgbClr val="000000">
                      <a:alpha val="50000"/>
                    </a:srgbClr>
                  </a:innerShdw>
                </a:effectLst>
                <a:latin typeface="Trebuchet MS" panose="020B0603020202020204" pitchFamily="34" charset="0"/>
              </a:rPr>
              <a:t>T-cell </a:t>
            </a:r>
            <a:r>
              <a:rPr lang="en-US" sz="3600" b="1" spc="50" dirty="0">
                <a:ln w="0"/>
                <a:solidFill>
                  <a:schemeClr val="bg2"/>
                </a:solidFill>
                <a:effectLst>
                  <a:innerShdw blurRad="63500" dist="50800" dir="13500000">
                    <a:srgbClr val="000000">
                      <a:alpha val="50000"/>
                    </a:srgbClr>
                  </a:innerShdw>
                </a:effectLst>
                <a:latin typeface="Trebuchet MS" panose="020B0603020202020204" pitchFamily="34" charset="0"/>
              </a:rPr>
              <a:t>based immunotherapy</a:t>
            </a:r>
            <a:r>
              <a:rPr lang="en-US" sz="3800" dirty="0" smtClean="0">
                <a:solidFill>
                  <a:schemeClr val="accent5">
                    <a:lumMod val="60000"/>
                    <a:lumOff val="40000"/>
                  </a:schemeClr>
                </a:solidFill>
              </a:rPr>
              <a:t/>
            </a:r>
            <a:br>
              <a:rPr lang="en-US" sz="3800" dirty="0" smtClean="0">
                <a:solidFill>
                  <a:schemeClr val="accent5">
                    <a:lumMod val="60000"/>
                    <a:lumOff val="40000"/>
                  </a:schemeClr>
                </a:solidFill>
              </a:rPr>
            </a:br>
            <a:endParaRPr lang="en-US" sz="3800" dirty="0">
              <a:solidFill>
                <a:schemeClr val="accent5">
                  <a:lumMod val="60000"/>
                  <a:lumOff val="40000"/>
                </a:schemeClr>
              </a:solidFill>
            </a:endParaRPr>
          </a:p>
        </p:txBody>
      </p:sp>
      <p:sp>
        <p:nvSpPr>
          <p:cNvPr id="6147" name="Subtítulo 2"/>
          <p:cNvSpPr>
            <a:spLocks noGrp="1"/>
          </p:cNvSpPr>
          <p:nvPr>
            <p:ph type="subTitle" idx="1"/>
          </p:nvPr>
        </p:nvSpPr>
        <p:spPr>
          <a:xfrm>
            <a:off x="0" y="3140968"/>
            <a:ext cx="9144000" cy="2232248"/>
          </a:xfrm>
        </p:spPr>
        <p:txBody>
          <a:bodyPr>
            <a:normAutofit/>
          </a:bodyPr>
          <a:lstStyle/>
          <a:p>
            <a:pPr marR="0" algn="ctr" eaLnBrk="1" hangingPunct="1"/>
            <a:r>
              <a:rPr lang="pt-BR" sz="2400" dirty="0" smtClean="0">
                <a:solidFill>
                  <a:schemeClr val="tx1"/>
                </a:solidFill>
                <a:latin typeface="Trebuchet MS" panose="020B0603020202020204" pitchFamily="34" charset="0"/>
              </a:rPr>
              <a:t>Dinler Amaral Antunes</a:t>
            </a:r>
          </a:p>
          <a:p>
            <a:r>
              <a:rPr lang="en-US" sz="1600" dirty="0" smtClean="0">
                <a:latin typeface="Trebuchet MS" panose="020B0603020202020204" pitchFamily="34" charset="0"/>
              </a:rPr>
              <a:t>Postdoctoral Research Associate</a:t>
            </a:r>
          </a:p>
          <a:p>
            <a:r>
              <a:rPr lang="en-US" sz="1600" dirty="0" smtClean="0">
                <a:latin typeface="Trebuchet MS" panose="020B0603020202020204" pitchFamily="34" charset="0"/>
              </a:rPr>
              <a:t>Rice University</a:t>
            </a:r>
            <a:endParaRPr lang="pt-BR" sz="2400" dirty="0" smtClean="0"/>
          </a:p>
          <a:p>
            <a:pPr marR="0" algn="ctr" eaLnBrk="1" hangingPunct="1"/>
            <a:endParaRPr lang="pt-BR" sz="2400" dirty="0" smtClean="0">
              <a:solidFill>
                <a:schemeClr val="tx1"/>
              </a:solidFill>
            </a:endParaRPr>
          </a:p>
          <a:p>
            <a:pPr marR="0" algn="ctr" eaLnBrk="1" hangingPunct="1"/>
            <a:endParaRPr lang="pt-BR" sz="2400" dirty="0" smtClean="0">
              <a:solidFill>
                <a:schemeClr val="tx1"/>
              </a:solidFill>
            </a:endParaRPr>
          </a:p>
        </p:txBody>
      </p:sp>
      <p:sp>
        <p:nvSpPr>
          <p:cNvPr id="6150" name="Text Box 7"/>
          <p:cNvSpPr txBox="1">
            <a:spLocks noChangeArrowheads="1"/>
          </p:cNvSpPr>
          <p:nvPr/>
        </p:nvSpPr>
        <p:spPr bwMode="auto">
          <a:xfrm>
            <a:off x="0" y="4797152"/>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2000" dirty="0" err="1" smtClean="0">
                <a:latin typeface="Constantia" pitchFamily="18" charset="0"/>
              </a:rPr>
              <a:t>Kavraki</a:t>
            </a:r>
            <a:r>
              <a:rPr lang="en-US" sz="2000" dirty="0" smtClean="0">
                <a:latin typeface="Constantia" pitchFamily="18" charset="0"/>
              </a:rPr>
              <a:t> Lab at Rice University</a:t>
            </a:r>
          </a:p>
          <a:p>
            <a:pPr algn="ctr" eaLnBrk="1" hangingPunct="1"/>
            <a:r>
              <a:rPr lang="en-US" sz="2000" dirty="0" err="1" smtClean="0">
                <a:latin typeface="Constantia" pitchFamily="18" charset="0"/>
              </a:rPr>
              <a:t>Lizée</a:t>
            </a:r>
            <a:r>
              <a:rPr lang="en-US" sz="2000" dirty="0" smtClean="0">
                <a:latin typeface="Constantia" pitchFamily="18" charset="0"/>
              </a:rPr>
              <a:t> Lab at UT M.D. Anderson</a:t>
            </a:r>
          </a:p>
          <a:p>
            <a:pPr algn="ctr" eaLnBrk="1" hangingPunct="1"/>
            <a:endParaRPr lang="en-US" sz="1600" dirty="0" smtClean="0">
              <a:latin typeface="Constantia" pitchFamily="18" charset="0"/>
            </a:endParaRPr>
          </a:p>
          <a:p>
            <a:pPr algn="ctr" eaLnBrk="1" hangingPunct="1"/>
            <a:r>
              <a:rPr lang="en-US" sz="1600" dirty="0" smtClean="0">
                <a:latin typeface="Constantia" pitchFamily="18" charset="0"/>
              </a:rPr>
              <a:t>Houston/TX</a:t>
            </a:r>
            <a:endParaRPr lang="en-US" sz="1600" dirty="0">
              <a:latin typeface="Constantia" pitchFamily="18" charset="0"/>
            </a:endParaRPr>
          </a:p>
        </p:txBody>
      </p:sp>
      <p:pic>
        <p:nvPicPr>
          <p:cNvPr id="8" name="Picture 41" descr="C:\Documents and Settings\ankurd\Desktop\PosterTemplates\rice-logo-large-rg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4861" y="5819420"/>
            <a:ext cx="2071240" cy="843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0" descr="MDAnderson-log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75673" y="5819420"/>
            <a:ext cx="2016224" cy="921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6803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824" y="2643030"/>
            <a:ext cx="6149704" cy="4221088"/>
          </a:xfrm>
          <a:prstGeom prst="rect">
            <a:avLst/>
          </a:prstGeom>
        </p:spPr>
      </p:pic>
      <p:pic>
        <p:nvPicPr>
          <p:cNvPr id="32" name="Imagem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90088" y="2642616"/>
            <a:ext cx="6154715" cy="4224528"/>
          </a:xfrm>
          <a:prstGeom prst="rect">
            <a:avLst/>
          </a:prstGeom>
        </p:spPr>
      </p:pic>
      <p:pic>
        <p:nvPicPr>
          <p:cNvPr id="33" name="Imagem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90088" y="2642616"/>
            <a:ext cx="6154715" cy="4224528"/>
          </a:xfrm>
          <a:prstGeom prst="rect">
            <a:avLst/>
          </a:prstGeom>
        </p:spPr>
      </p:pic>
      <p:pic>
        <p:nvPicPr>
          <p:cNvPr id="34" name="Imagem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90088" y="2642616"/>
            <a:ext cx="6154715" cy="4224528"/>
          </a:xfrm>
          <a:prstGeom prst="rect">
            <a:avLst/>
          </a:prstGeom>
        </p:spPr>
      </p:pic>
      <p:pic>
        <p:nvPicPr>
          <p:cNvPr id="36" name="Imagem 3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990088" y="2642616"/>
            <a:ext cx="6154715" cy="4224528"/>
          </a:xfrm>
          <a:prstGeom prst="rect">
            <a:avLst/>
          </a:prstGeom>
        </p:spPr>
      </p:pic>
      <p:sp>
        <p:nvSpPr>
          <p:cNvPr id="15" name="CaixaDeTexto 14"/>
          <p:cNvSpPr txBox="1"/>
          <p:nvPr/>
        </p:nvSpPr>
        <p:spPr>
          <a:xfrm>
            <a:off x="158000" y="5374957"/>
            <a:ext cx="3074689" cy="707886"/>
          </a:xfrm>
          <a:prstGeom prst="rect">
            <a:avLst/>
          </a:prstGeom>
          <a:noFill/>
        </p:spPr>
        <p:txBody>
          <a:bodyPr wrap="none" rtlCol="0">
            <a:spAutoFit/>
          </a:bodyPr>
          <a:lstStyle/>
          <a:p>
            <a:pPr algn="ctr"/>
            <a:r>
              <a:rPr lang="en-US" sz="2000" dirty="0">
                <a:solidFill>
                  <a:schemeClr val="accent2">
                    <a:lumMod val="50000"/>
                  </a:schemeClr>
                </a:solidFill>
                <a:latin typeface="Calibri" pitchFamily="34" charset="0"/>
                <a:cs typeface="Calibri" pitchFamily="34" charset="0"/>
              </a:rPr>
              <a:t>Class I HLA receptor</a:t>
            </a:r>
          </a:p>
          <a:p>
            <a:pPr algn="ctr"/>
            <a:r>
              <a:rPr lang="en-US" sz="2000" dirty="0">
                <a:solidFill>
                  <a:schemeClr val="accent2">
                    <a:lumMod val="50000"/>
                  </a:schemeClr>
                </a:solidFill>
                <a:latin typeface="Calibri" pitchFamily="34" charset="0"/>
                <a:cs typeface="Calibri" pitchFamily="34" charset="0"/>
              </a:rPr>
              <a:t>(Human Leukocyte Antigen)</a:t>
            </a:r>
          </a:p>
        </p:txBody>
      </p:sp>
      <p:cxnSp>
        <p:nvCxnSpPr>
          <p:cNvPr id="23" name="Conector de seta reta 6"/>
          <p:cNvCxnSpPr/>
          <p:nvPr/>
        </p:nvCxnSpPr>
        <p:spPr>
          <a:xfrm flipH="1" flipV="1">
            <a:off x="2925192" y="4138793"/>
            <a:ext cx="751221" cy="230350"/>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sp>
        <p:nvSpPr>
          <p:cNvPr id="24" name="CaixaDeTexto 11"/>
          <p:cNvSpPr txBox="1"/>
          <p:nvPr/>
        </p:nvSpPr>
        <p:spPr>
          <a:xfrm>
            <a:off x="2337705" y="3949025"/>
            <a:ext cx="580159" cy="400110"/>
          </a:xfrm>
          <a:prstGeom prst="rect">
            <a:avLst/>
          </a:prstGeom>
          <a:noFill/>
        </p:spPr>
        <p:txBody>
          <a:bodyPr wrap="none" rtlCol="0">
            <a:spAutoFit/>
          </a:bodyPr>
          <a:lstStyle/>
          <a:p>
            <a:r>
              <a:rPr lang="en-US" sz="2000" dirty="0">
                <a:solidFill>
                  <a:schemeClr val="accent2">
                    <a:lumMod val="50000"/>
                  </a:schemeClr>
                </a:solidFill>
                <a:latin typeface="Calibri" pitchFamily="34" charset="0"/>
                <a:cs typeface="Calibri" pitchFamily="34" charset="0"/>
              </a:rPr>
              <a:t>TCR</a:t>
            </a:r>
          </a:p>
        </p:txBody>
      </p:sp>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a:solidFill>
                  <a:schemeClr val="accent2">
                    <a:lumMod val="50000"/>
                  </a:schemeClr>
                </a:solidFill>
                <a:latin typeface="Calibri" pitchFamily="34" charset="0"/>
                <a:cs typeface="Calibri" pitchFamily="34" charset="0"/>
              </a:rPr>
              <a:t>Cellular immunity to cancer</a:t>
            </a:r>
          </a:p>
        </p:txBody>
      </p:sp>
      <p:sp>
        <p:nvSpPr>
          <p:cNvPr id="3" name="TextBox 2"/>
          <p:cNvSpPr txBox="1"/>
          <p:nvPr/>
        </p:nvSpPr>
        <p:spPr>
          <a:xfrm>
            <a:off x="395536" y="908720"/>
            <a:ext cx="8280920" cy="1015663"/>
          </a:xfrm>
          <a:prstGeom prst="rect">
            <a:avLst/>
          </a:prstGeom>
          <a:ln>
            <a:noFill/>
            <a:tailEnd type="arrow"/>
          </a:ln>
        </p:spPr>
        <p:style>
          <a:lnRef idx="1">
            <a:schemeClr val="accent1"/>
          </a:lnRef>
          <a:fillRef idx="0">
            <a:schemeClr val="accent1"/>
          </a:fillRef>
          <a:effectRef idx="0">
            <a:schemeClr val="accent1"/>
          </a:effectRef>
          <a:fontRef idx="minor">
            <a:schemeClr val="tx1"/>
          </a:fontRef>
        </p:style>
        <p:txBody>
          <a:bodyPr wrap="square" rtlCol="0">
            <a:spAutoFit/>
          </a:bodyPr>
          <a:lstStyle/>
          <a:p>
            <a:pPr marL="285750" indent="-285750">
              <a:buFont typeface="Arial" panose="020B0604020202020204" pitchFamily="34" charset="0"/>
              <a:buChar char="•"/>
            </a:pPr>
            <a:r>
              <a:rPr lang="en-US" sz="2000" dirty="0" smtClean="0">
                <a:solidFill>
                  <a:schemeClr val="accent2">
                    <a:lumMod val="50000"/>
                  </a:schemeClr>
                </a:solidFill>
                <a:latin typeface="Calibri" pitchFamily="34" charset="0"/>
                <a:cs typeface="Calibri" pitchFamily="34" charset="0"/>
              </a:rPr>
              <a:t>Intracellular peptides are displayed at the cell surface by HLA receptors</a:t>
            </a:r>
          </a:p>
          <a:p>
            <a:pPr marL="285750" indent="-285750">
              <a:buFont typeface="Arial" panose="020B0604020202020204" pitchFamily="34" charset="0"/>
              <a:buChar char="•"/>
            </a:pPr>
            <a:r>
              <a:rPr lang="en-US" sz="2000" dirty="0" smtClean="0">
                <a:solidFill>
                  <a:schemeClr val="accent2">
                    <a:lumMod val="50000"/>
                  </a:schemeClr>
                </a:solidFill>
                <a:latin typeface="Calibri" pitchFamily="34" charset="0"/>
                <a:cs typeface="Calibri" pitchFamily="34" charset="0"/>
              </a:rPr>
              <a:t>Cytotoxic </a:t>
            </a:r>
            <a:r>
              <a:rPr lang="en-US" sz="2000" dirty="0">
                <a:solidFill>
                  <a:schemeClr val="accent2">
                    <a:lumMod val="50000"/>
                  </a:schemeClr>
                </a:solidFill>
                <a:latin typeface="Calibri" pitchFamily="34" charset="0"/>
                <a:cs typeface="Calibri" pitchFamily="34" charset="0"/>
              </a:rPr>
              <a:t>T-cells perform surveillance against diseased cells </a:t>
            </a:r>
            <a:endParaRPr lang="en-US" sz="2000" dirty="0" smtClean="0">
              <a:solidFill>
                <a:schemeClr val="accent2">
                  <a:lumMod val="50000"/>
                </a:schemeClr>
              </a:solidFill>
              <a:latin typeface="Calibri" pitchFamily="34" charset="0"/>
              <a:cs typeface="Calibri" pitchFamily="34" charset="0"/>
            </a:endParaRPr>
          </a:p>
          <a:p>
            <a:pPr marL="285750" indent="-285750">
              <a:buFont typeface="Arial" panose="020B0604020202020204" pitchFamily="34" charset="0"/>
              <a:buChar char="•"/>
            </a:pPr>
            <a:r>
              <a:rPr lang="en-US" sz="2000" dirty="0">
                <a:solidFill>
                  <a:schemeClr val="accent2">
                    <a:lumMod val="50000"/>
                  </a:schemeClr>
                </a:solidFill>
                <a:latin typeface="Calibri" pitchFamily="34" charset="0"/>
                <a:cs typeface="Calibri" pitchFamily="34" charset="0"/>
              </a:rPr>
              <a:t>Cancer cells naturally present tumor-specific peptides </a:t>
            </a:r>
            <a:r>
              <a:rPr lang="en-US" sz="1400" dirty="0">
                <a:solidFill>
                  <a:srgbClr val="ED7D31">
                    <a:lumMod val="50000"/>
                  </a:srgbClr>
                </a:solidFill>
                <a:latin typeface="Calibri" pitchFamily="34" charset="0"/>
                <a:cs typeface="Calibri" pitchFamily="34" charset="0"/>
              </a:rPr>
              <a:t>(</a:t>
            </a:r>
            <a:r>
              <a:rPr lang="en-US" sz="1400" dirty="0" err="1">
                <a:solidFill>
                  <a:srgbClr val="ED7D31">
                    <a:lumMod val="50000"/>
                  </a:srgbClr>
                </a:solidFill>
                <a:latin typeface="Calibri" pitchFamily="34" charset="0"/>
                <a:cs typeface="Calibri" pitchFamily="34" charset="0"/>
              </a:rPr>
              <a:t>Lizeé</a:t>
            </a:r>
            <a:r>
              <a:rPr lang="en-US" sz="1400" dirty="0">
                <a:solidFill>
                  <a:srgbClr val="ED7D31">
                    <a:lumMod val="50000"/>
                  </a:srgbClr>
                </a:solidFill>
                <a:latin typeface="Calibri" pitchFamily="34" charset="0"/>
                <a:cs typeface="Calibri" pitchFamily="34" charset="0"/>
              </a:rPr>
              <a:t> </a:t>
            </a:r>
            <a:r>
              <a:rPr lang="en-US" sz="1400" i="1" dirty="0">
                <a:solidFill>
                  <a:srgbClr val="ED7D31">
                    <a:lumMod val="50000"/>
                  </a:srgbClr>
                </a:solidFill>
                <a:latin typeface="Calibri" pitchFamily="34" charset="0"/>
                <a:cs typeface="Calibri" pitchFamily="34" charset="0"/>
              </a:rPr>
              <a:t>et al.</a:t>
            </a:r>
            <a:r>
              <a:rPr lang="en-US" sz="1400" dirty="0">
                <a:solidFill>
                  <a:srgbClr val="ED7D31">
                    <a:lumMod val="50000"/>
                  </a:srgbClr>
                </a:solidFill>
                <a:latin typeface="Calibri" pitchFamily="34" charset="0"/>
                <a:cs typeface="Calibri" pitchFamily="34" charset="0"/>
              </a:rPr>
              <a:t>, 2012</a:t>
            </a:r>
            <a:r>
              <a:rPr lang="en-US" sz="1400" dirty="0" smtClean="0">
                <a:solidFill>
                  <a:srgbClr val="ED7D31">
                    <a:lumMod val="50000"/>
                  </a:srgbClr>
                </a:solidFill>
                <a:latin typeface="Calibri" pitchFamily="34" charset="0"/>
                <a:cs typeface="Calibri" pitchFamily="34" charset="0"/>
              </a:rPr>
              <a:t>)</a:t>
            </a:r>
            <a:endParaRPr lang="en-US" sz="1400" dirty="0">
              <a:solidFill>
                <a:srgbClr val="ED7D31">
                  <a:lumMod val="50000"/>
                </a:srgbClr>
              </a:solidFill>
              <a:latin typeface="Calibri" pitchFamily="34" charset="0"/>
              <a:cs typeface="Calibri" pitchFamily="34" charset="0"/>
            </a:endParaRPr>
          </a:p>
        </p:txBody>
      </p:sp>
      <p:cxnSp>
        <p:nvCxnSpPr>
          <p:cNvPr id="7" name="Conector de seta reta 6"/>
          <p:cNvCxnSpPr/>
          <p:nvPr/>
        </p:nvCxnSpPr>
        <p:spPr>
          <a:xfrm flipH="1" flipV="1">
            <a:off x="2627785" y="4770886"/>
            <a:ext cx="1224135" cy="105175"/>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1672630" y="4581128"/>
            <a:ext cx="989823" cy="400110"/>
          </a:xfrm>
          <a:prstGeom prst="rect">
            <a:avLst/>
          </a:prstGeom>
          <a:noFill/>
        </p:spPr>
        <p:txBody>
          <a:bodyPr wrap="none" rtlCol="0">
            <a:spAutoFit/>
          </a:bodyPr>
          <a:lstStyle/>
          <a:p>
            <a:r>
              <a:rPr lang="en-US" sz="2000" dirty="0">
                <a:solidFill>
                  <a:schemeClr val="accent2">
                    <a:lumMod val="50000"/>
                  </a:schemeClr>
                </a:solidFill>
                <a:latin typeface="Calibri" pitchFamily="34" charset="0"/>
                <a:cs typeface="Calibri" pitchFamily="34" charset="0"/>
              </a:rPr>
              <a:t>peptide</a:t>
            </a:r>
          </a:p>
        </p:txBody>
      </p:sp>
      <p:cxnSp>
        <p:nvCxnSpPr>
          <p:cNvPr id="14" name="Conector de seta reta 13"/>
          <p:cNvCxnSpPr/>
          <p:nvPr/>
        </p:nvCxnSpPr>
        <p:spPr>
          <a:xfrm flipH="1">
            <a:off x="2843809" y="5374957"/>
            <a:ext cx="1008111" cy="142275"/>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6017" y="1268760"/>
            <a:ext cx="8986450" cy="645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ight Brace 29"/>
          <p:cNvSpPr/>
          <p:nvPr/>
        </p:nvSpPr>
        <p:spPr>
          <a:xfrm>
            <a:off x="4190694" y="4797152"/>
            <a:ext cx="206182" cy="936104"/>
          </a:xfrm>
          <a:prstGeom prst="rightBrace">
            <a:avLst/>
          </a:prstGeom>
          <a:ln>
            <a:solidFill>
              <a:srgbClr val="8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CaixaDeTexto 20"/>
          <p:cNvSpPr txBox="1"/>
          <p:nvPr/>
        </p:nvSpPr>
        <p:spPr>
          <a:xfrm>
            <a:off x="4372615" y="5033859"/>
            <a:ext cx="3260060" cy="400110"/>
          </a:xfrm>
          <a:prstGeom prst="rect">
            <a:avLst/>
          </a:prstGeom>
          <a:noFill/>
        </p:spPr>
        <p:txBody>
          <a:bodyPr wrap="none" rtlCol="0">
            <a:spAutoFit/>
          </a:bodyPr>
          <a:lstStyle/>
          <a:p>
            <a:r>
              <a:rPr lang="en-US" sz="2000" dirty="0">
                <a:solidFill>
                  <a:schemeClr val="accent2">
                    <a:lumMod val="50000"/>
                  </a:schemeClr>
                </a:solidFill>
                <a:latin typeface="Calibri" pitchFamily="34" charset="0"/>
                <a:cs typeface="Calibri" pitchFamily="34" charset="0"/>
              </a:rPr>
              <a:t>p</a:t>
            </a:r>
            <a:r>
              <a:rPr lang="en-US" sz="2000" dirty="0" smtClean="0">
                <a:solidFill>
                  <a:schemeClr val="accent2">
                    <a:lumMod val="50000"/>
                  </a:schemeClr>
                </a:solidFill>
                <a:latin typeface="Calibri" pitchFamily="34" charset="0"/>
                <a:cs typeface="Calibri" pitchFamily="34" charset="0"/>
              </a:rPr>
              <a:t>eptide-HLA (</a:t>
            </a:r>
            <a:r>
              <a:rPr lang="en-US" sz="2000" dirty="0" err="1" smtClean="0">
                <a:solidFill>
                  <a:schemeClr val="accent2">
                    <a:lumMod val="50000"/>
                  </a:schemeClr>
                </a:solidFill>
                <a:latin typeface="Calibri" pitchFamily="34" charset="0"/>
                <a:cs typeface="Calibri" pitchFamily="34" charset="0"/>
              </a:rPr>
              <a:t>pHLA</a:t>
            </a:r>
            <a:r>
              <a:rPr lang="en-US" sz="2000" dirty="0" smtClean="0">
                <a:solidFill>
                  <a:schemeClr val="accent2">
                    <a:lumMod val="50000"/>
                  </a:schemeClr>
                </a:solidFill>
                <a:latin typeface="Calibri" pitchFamily="34" charset="0"/>
                <a:cs typeface="Calibri" pitchFamily="34" charset="0"/>
              </a:rPr>
              <a:t>) complex</a:t>
            </a:r>
            <a:endParaRPr lang="en-US" sz="2000" dirty="0">
              <a:solidFill>
                <a:schemeClr val="accent2">
                  <a:lumMod val="50000"/>
                </a:schemeClr>
              </a:solidFill>
              <a:latin typeface="Calibri" pitchFamily="34" charset="0"/>
              <a:cs typeface="Calibri" pitchFamily="34" charset="0"/>
            </a:endParaRPr>
          </a:p>
        </p:txBody>
      </p:sp>
      <p:sp>
        <p:nvSpPr>
          <p:cNvPr id="22" name="Rectangle 25"/>
          <p:cNvSpPr/>
          <p:nvPr/>
        </p:nvSpPr>
        <p:spPr>
          <a:xfrm>
            <a:off x="107504" y="1556792"/>
            <a:ext cx="8986450" cy="6457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Imagem 1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485065" y="1610118"/>
            <a:ext cx="1959143" cy="2250930"/>
          </a:xfrm>
          <a:prstGeom prst="rect">
            <a:avLst/>
          </a:prstGeom>
        </p:spPr>
      </p:pic>
      <p:pic>
        <p:nvPicPr>
          <p:cNvPr id="25" name="Imagem 2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5772" y="2003038"/>
            <a:ext cx="1959143" cy="2250930"/>
          </a:xfrm>
          <a:prstGeom prst="rect">
            <a:avLst/>
          </a:prstGeom>
        </p:spPr>
      </p:pic>
      <p:pic>
        <p:nvPicPr>
          <p:cNvPr id="28" name="Imagem 2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993453" y="2546222"/>
            <a:ext cx="1959143" cy="2250930"/>
          </a:xfrm>
          <a:prstGeom prst="rect">
            <a:avLst/>
          </a:prstGeom>
        </p:spPr>
      </p:pic>
    </p:spTree>
    <p:extLst>
      <p:ext uri="{BB962C8B-B14F-4D97-AF65-F5344CB8AC3E}">
        <p14:creationId xmlns:p14="http://schemas.microsoft.com/office/powerpoint/2010/main" val="332981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xit" presetSubtype="0" fill="hold" grpId="0" nodeType="withEffect">
                                  <p:stCondLst>
                                    <p:cond delay="0"/>
                                  </p:stCondLst>
                                  <p:childTnLst>
                                    <p:animEffect transition="out" filter="fade">
                                      <p:cBhvr>
                                        <p:cTn id="9" dur="500"/>
                                        <p:tgtEl>
                                          <p:spTgt spid="26"/>
                                        </p:tgtEl>
                                      </p:cBhvr>
                                    </p:animEffect>
                                    <p:set>
                                      <p:cBhvr>
                                        <p:cTn id="10" dur="1" fill="hold">
                                          <p:stCondLst>
                                            <p:cond delay="499"/>
                                          </p:stCondLst>
                                        </p:cTn>
                                        <p:tgtEl>
                                          <p:spTgt spid="26"/>
                                        </p:tgtEl>
                                        <p:attrNameLst>
                                          <p:attrName>style.visibility</p:attrName>
                                        </p:attrNameLst>
                                      </p:cBhvr>
                                      <p:to>
                                        <p:strVal val="hidden"/>
                                      </p:to>
                                    </p:se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par>
                                <p:cTn id="30" presetID="10" presetClass="exit" presetSubtype="0" fill="hold" grpId="0" nodeType="withEffect">
                                  <p:stCondLst>
                                    <p:cond delay="0"/>
                                  </p:stCondLst>
                                  <p:childTnLst>
                                    <p:animEffect transition="out" filter="fade">
                                      <p:cBhvr>
                                        <p:cTn id="31" dur="500"/>
                                        <p:tgtEl>
                                          <p:spTgt spid="21"/>
                                        </p:tgtEl>
                                      </p:cBhvr>
                                    </p:animEffect>
                                    <p:set>
                                      <p:cBhvr>
                                        <p:cTn id="32" dur="1" fill="hold">
                                          <p:stCondLst>
                                            <p:cond delay="499"/>
                                          </p:stCondLst>
                                        </p:cTn>
                                        <p:tgtEl>
                                          <p:spTgt spid="21"/>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500"/>
                                        <p:tgtEl>
                                          <p:spTgt spid="20"/>
                                        </p:tgtEl>
                                      </p:cBhvr>
                                    </p:animEffect>
                                    <p:set>
                                      <p:cBhvr>
                                        <p:cTn id="35" dur="1" fill="hold">
                                          <p:stCondLst>
                                            <p:cond delay="499"/>
                                          </p:stCondLst>
                                        </p:cTn>
                                        <p:tgtEl>
                                          <p:spTgt spid="20"/>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500"/>
                                        <p:tgtEl>
                                          <p:spTgt spid="23"/>
                                        </p:tgtEl>
                                      </p:cBhvr>
                                    </p:animEffect>
                                    <p:set>
                                      <p:cBhvr>
                                        <p:cTn id="38" dur="1" fill="hold">
                                          <p:stCondLst>
                                            <p:cond delay="499"/>
                                          </p:stCondLst>
                                        </p:cTn>
                                        <p:tgtEl>
                                          <p:spTgt spid="23"/>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24"/>
                                        </p:tgtEl>
                                      </p:cBhvr>
                                    </p:animEffect>
                                    <p:set>
                                      <p:cBhvr>
                                        <p:cTn id="41" dur="1" fill="hold">
                                          <p:stCondLst>
                                            <p:cond delay="499"/>
                                          </p:stCondLst>
                                        </p:cTn>
                                        <p:tgtEl>
                                          <p:spTgt spid="24"/>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500"/>
                                        <p:tgtEl>
                                          <p:spTgt spid="25"/>
                                        </p:tgtEl>
                                      </p:cBhvr>
                                    </p:animEffect>
                                    <p:set>
                                      <p:cBhvr>
                                        <p:cTn id="44" dur="1" fill="hold">
                                          <p:stCondLst>
                                            <p:cond delay="499"/>
                                          </p:stCondLst>
                                        </p:cTn>
                                        <p:tgtEl>
                                          <p:spTgt spid="25"/>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19"/>
                                        </p:tgtEl>
                                      </p:cBhvr>
                                    </p:animEffect>
                                    <p:set>
                                      <p:cBhvr>
                                        <p:cTn id="47" dur="1" fill="hold">
                                          <p:stCondLst>
                                            <p:cond delay="499"/>
                                          </p:stCondLst>
                                        </p:cTn>
                                        <p:tgtEl>
                                          <p:spTgt spid="19"/>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28"/>
                                        </p:tgtEl>
                                      </p:cBhvr>
                                    </p:animEffect>
                                    <p:set>
                                      <p:cBhvr>
                                        <p:cTn id="50" dur="1" fill="hold">
                                          <p:stCondLst>
                                            <p:cond delay="499"/>
                                          </p:stCondLst>
                                        </p:cTn>
                                        <p:tgtEl>
                                          <p:spTgt spid="2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22"/>
                                        </p:tgtEl>
                                      </p:cBhvr>
                                    </p:animEffect>
                                    <p:set>
                                      <p:cBhvr>
                                        <p:cTn id="55" dur="1" fill="hold">
                                          <p:stCondLst>
                                            <p:cond delay="499"/>
                                          </p:stCondLst>
                                        </p:cTn>
                                        <p:tgtEl>
                                          <p:spTgt spid="22"/>
                                        </p:tgtEl>
                                        <p:attrNameLst>
                                          <p:attrName>style.visibility</p:attrName>
                                        </p:attrNameLst>
                                      </p:cBhvr>
                                      <p:to>
                                        <p:strVal val="hidden"/>
                                      </p:to>
                                    </p:set>
                                  </p:childTnLst>
                                </p:cTn>
                              </p:par>
                              <p:par>
                                <p:cTn id="56" presetID="10" presetClass="entr" presetSubtype="0" fill="hold"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500"/>
                                        <p:tgtEl>
                                          <p:spTgt spid="36"/>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2"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4" grpId="1"/>
      <p:bldP spid="24" grpId="2"/>
      <p:bldP spid="26" grpId="0" animBg="1"/>
      <p:bldP spid="20" grpId="0" animBg="1"/>
      <p:bldP spid="21" grpId="0"/>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l="20403" t="6111" r="17330" b="5278"/>
          <a:stretch/>
        </p:blipFill>
        <p:spPr>
          <a:xfrm>
            <a:off x="2341151" y="829866"/>
            <a:ext cx="4175065" cy="5775104"/>
          </a:xfrm>
          <a:prstGeom prst="rect">
            <a:avLst/>
          </a:prstGeom>
        </p:spPr>
      </p:pic>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Structure of the </a:t>
            </a:r>
            <a:r>
              <a:rPr lang="en-US" sz="3200" dirty="0" err="1" smtClean="0">
                <a:solidFill>
                  <a:schemeClr val="accent2">
                    <a:lumMod val="50000"/>
                  </a:schemeClr>
                </a:solidFill>
                <a:latin typeface="Calibri" pitchFamily="34" charset="0"/>
                <a:cs typeface="Calibri" pitchFamily="34" charset="0"/>
              </a:rPr>
              <a:t>pHLA</a:t>
            </a:r>
            <a:r>
              <a:rPr lang="en-US" sz="3200" dirty="0" smtClean="0">
                <a:solidFill>
                  <a:schemeClr val="accent2">
                    <a:lumMod val="50000"/>
                  </a:schemeClr>
                </a:solidFill>
                <a:latin typeface="Calibri" pitchFamily="34" charset="0"/>
                <a:cs typeface="Calibri" pitchFamily="34" charset="0"/>
              </a:rPr>
              <a:t> complex (front view)</a:t>
            </a:r>
            <a:endParaRPr lang="en-US" sz="3200" dirty="0" smtClean="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l="64006"/>
          <a:stretch/>
        </p:blipFill>
        <p:spPr>
          <a:xfrm>
            <a:off x="1702" y="2636912"/>
            <a:ext cx="1320413" cy="2427751"/>
          </a:xfrm>
          <a:prstGeom prst="rect">
            <a:avLst/>
          </a:prstGeom>
        </p:spPr>
      </p:pic>
      <p:cxnSp>
        <p:nvCxnSpPr>
          <p:cNvPr id="7" name="Straight Connector 6"/>
          <p:cNvCxnSpPr/>
          <p:nvPr/>
        </p:nvCxnSpPr>
        <p:spPr>
          <a:xfrm>
            <a:off x="467544" y="4077072"/>
            <a:ext cx="2016224" cy="1152128"/>
          </a:xfrm>
          <a:prstGeom prst="line">
            <a:avLst/>
          </a:prstGeom>
        </p:spPr>
        <p:style>
          <a:lnRef idx="1">
            <a:schemeClr val="accent3"/>
          </a:lnRef>
          <a:fillRef idx="0">
            <a:schemeClr val="accent3"/>
          </a:fillRef>
          <a:effectRef idx="0">
            <a:schemeClr val="accent3"/>
          </a:effectRef>
          <a:fontRef idx="minor">
            <a:schemeClr val="tx1"/>
          </a:fontRef>
        </p:style>
      </p:cxnSp>
      <p:cxnSp>
        <p:nvCxnSpPr>
          <p:cNvPr id="8" name="Straight Connector 7"/>
          <p:cNvCxnSpPr/>
          <p:nvPr/>
        </p:nvCxnSpPr>
        <p:spPr>
          <a:xfrm flipV="1">
            <a:off x="674137" y="908720"/>
            <a:ext cx="3334028" cy="1902983"/>
          </a:xfrm>
          <a:prstGeom prst="line">
            <a:avLst/>
          </a:prstGeom>
        </p:spPr>
        <p:style>
          <a:lnRef idx="1">
            <a:schemeClr val="accent3"/>
          </a:lnRef>
          <a:fillRef idx="0">
            <a:schemeClr val="accent3"/>
          </a:fillRef>
          <a:effectRef idx="0">
            <a:schemeClr val="accent3"/>
          </a:effectRef>
          <a:fontRef idx="minor">
            <a:schemeClr val="tx1"/>
          </a:fontRef>
        </p:style>
      </p:cxnSp>
      <p:pic>
        <p:nvPicPr>
          <p:cNvPr id="15" name="Picture 14"/>
          <p:cNvPicPr>
            <a:picLocks noChangeAspect="1"/>
          </p:cNvPicPr>
          <p:nvPr/>
        </p:nvPicPr>
        <p:blipFill rotWithShape="1">
          <a:blip r:embed="rId5" cstate="print">
            <a:extLst>
              <a:ext uri="{28A0092B-C50C-407E-A947-70E740481C1C}">
                <a14:useLocalDpi xmlns:a14="http://schemas.microsoft.com/office/drawing/2010/main" val="0"/>
              </a:ext>
            </a:extLst>
          </a:blip>
          <a:srcRect l="74710" t="62502" r="10230" b="4949"/>
          <a:stretch/>
        </p:blipFill>
        <p:spPr>
          <a:xfrm>
            <a:off x="0" y="4149080"/>
            <a:ext cx="611560" cy="667891"/>
          </a:xfrm>
          <a:prstGeom prst="rect">
            <a:avLst/>
          </a:prstGeom>
        </p:spPr>
      </p:pic>
      <p:sp>
        <p:nvSpPr>
          <p:cNvPr id="20" name="CaixaDeTexto 14"/>
          <p:cNvSpPr txBox="1"/>
          <p:nvPr/>
        </p:nvSpPr>
        <p:spPr>
          <a:xfrm>
            <a:off x="1481870" y="2799978"/>
            <a:ext cx="1443472" cy="707886"/>
          </a:xfrm>
          <a:prstGeom prst="rect">
            <a:avLst/>
          </a:prstGeom>
          <a:noFill/>
        </p:spPr>
        <p:txBody>
          <a:bodyPr wrap="none" rtlCol="0">
            <a:spAutoFit/>
          </a:bodyPr>
          <a:lstStyle/>
          <a:p>
            <a:pPr algn="ctr"/>
            <a:r>
              <a:rPr lang="en-US" sz="2000" dirty="0" smtClean="0">
                <a:solidFill>
                  <a:schemeClr val="accent2">
                    <a:lumMod val="50000"/>
                  </a:schemeClr>
                </a:solidFill>
                <a:latin typeface="Calibri" pitchFamily="34" charset="0"/>
                <a:cs typeface="Calibri" pitchFamily="34" charset="0"/>
              </a:rPr>
              <a:t>Heavy chain</a:t>
            </a:r>
          </a:p>
          <a:p>
            <a:pPr algn="ctr"/>
            <a:r>
              <a:rPr lang="en-US" sz="2000" dirty="0" smtClean="0">
                <a:solidFill>
                  <a:schemeClr val="accent2">
                    <a:lumMod val="50000"/>
                  </a:schemeClr>
                </a:solidFill>
                <a:latin typeface="Calibri" pitchFamily="34" charset="0"/>
                <a:cs typeface="Calibri" pitchFamily="34" charset="0"/>
              </a:rPr>
              <a:t>(</a:t>
            </a:r>
            <a:r>
              <a:rPr lang="el-GR" sz="2000" dirty="0" smtClean="0">
                <a:solidFill>
                  <a:schemeClr val="accent2">
                    <a:lumMod val="50000"/>
                  </a:schemeClr>
                </a:solidFill>
                <a:latin typeface="Calibri" pitchFamily="34" charset="0"/>
                <a:cs typeface="Calibri" pitchFamily="34" charset="0"/>
              </a:rPr>
              <a:t>α</a:t>
            </a:r>
            <a:r>
              <a:rPr lang="en-US" sz="2000" dirty="0" smtClean="0">
                <a:solidFill>
                  <a:schemeClr val="accent2">
                    <a:lumMod val="50000"/>
                  </a:schemeClr>
                </a:solidFill>
                <a:latin typeface="Calibri" pitchFamily="34" charset="0"/>
                <a:cs typeface="Calibri" pitchFamily="34" charset="0"/>
              </a:rPr>
              <a:t> chain)</a:t>
            </a:r>
            <a:endParaRPr lang="en-US" sz="2000" dirty="0">
              <a:solidFill>
                <a:schemeClr val="accent2">
                  <a:lumMod val="50000"/>
                </a:schemeClr>
              </a:solidFill>
              <a:latin typeface="Calibri" pitchFamily="34" charset="0"/>
              <a:cs typeface="Calibri" pitchFamily="34" charset="0"/>
            </a:endParaRPr>
          </a:p>
        </p:txBody>
      </p:sp>
      <p:cxnSp>
        <p:nvCxnSpPr>
          <p:cNvPr id="23" name="Conector de seta reta 13"/>
          <p:cNvCxnSpPr/>
          <p:nvPr/>
        </p:nvCxnSpPr>
        <p:spPr>
          <a:xfrm>
            <a:off x="6228184" y="4288200"/>
            <a:ext cx="353637" cy="10993"/>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sp>
        <p:nvSpPr>
          <p:cNvPr id="24" name="CaixaDeTexto 14"/>
          <p:cNvSpPr txBox="1"/>
          <p:nvPr/>
        </p:nvSpPr>
        <p:spPr>
          <a:xfrm>
            <a:off x="6398522" y="4120505"/>
            <a:ext cx="2133918" cy="707886"/>
          </a:xfrm>
          <a:prstGeom prst="rect">
            <a:avLst/>
          </a:prstGeom>
          <a:noFill/>
        </p:spPr>
        <p:txBody>
          <a:bodyPr wrap="none" rtlCol="0">
            <a:spAutoFit/>
          </a:bodyPr>
          <a:lstStyle/>
          <a:p>
            <a:pPr algn="ctr"/>
            <a:r>
              <a:rPr lang="en-US" sz="2000" dirty="0" smtClean="0">
                <a:solidFill>
                  <a:schemeClr val="accent2">
                    <a:lumMod val="50000"/>
                  </a:schemeClr>
                </a:solidFill>
                <a:latin typeface="Calibri" pitchFamily="34" charset="0"/>
                <a:cs typeface="Calibri" pitchFamily="34" charset="0"/>
              </a:rPr>
              <a:t>Light chain</a:t>
            </a:r>
          </a:p>
          <a:p>
            <a:pPr algn="ctr"/>
            <a:r>
              <a:rPr lang="en-US" sz="2000" dirty="0" smtClean="0">
                <a:solidFill>
                  <a:schemeClr val="accent2">
                    <a:lumMod val="50000"/>
                  </a:schemeClr>
                </a:solidFill>
                <a:latin typeface="Calibri" pitchFamily="34" charset="0"/>
                <a:cs typeface="Calibri" pitchFamily="34" charset="0"/>
              </a:rPr>
              <a:t>(</a:t>
            </a:r>
            <a:r>
              <a:rPr lang="el-GR" sz="2000" dirty="0">
                <a:solidFill>
                  <a:schemeClr val="accent2">
                    <a:lumMod val="50000"/>
                  </a:schemeClr>
                </a:solidFill>
                <a:latin typeface="Calibri" pitchFamily="34" charset="0"/>
                <a:cs typeface="Calibri" pitchFamily="34" charset="0"/>
              </a:rPr>
              <a:t>β</a:t>
            </a:r>
            <a:r>
              <a:rPr lang="en-US" sz="2000" dirty="0">
                <a:solidFill>
                  <a:schemeClr val="accent2">
                    <a:lumMod val="50000"/>
                  </a:schemeClr>
                </a:solidFill>
                <a:latin typeface="Calibri" pitchFamily="34" charset="0"/>
                <a:cs typeface="Calibri" pitchFamily="34" charset="0"/>
              </a:rPr>
              <a:t>2-microglobulin</a:t>
            </a:r>
            <a:r>
              <a:rPr lang="en-US" sz="2000" dirty="0" smtClean="0">
                <a:solidFill>
                  <a:schemeClr val="accent2">
                    <a:lumMod val="50000"/>
                  </a:schemeClr>
                </a:solidFill>
                <a:latin typeface="Calibri" pitchFamily="34" charset="0"/>
                <a:cs typeface="Calibri" pitchFamily="34" charset="0"/>
              </a:rPr>
              <a:t>)</a:t>
            </a:r>
            <a:endParaRPr lang="en-US" sz="2000" dirty="0">
              <a:solidFill>
                <a:schemeClr val="accent2">
                  <a:lumMod val="50000"/>
                </a:schemeClr>
              </a:solidFill>
              <a:latin typeface="Calibri" pitchFamily="34" charset="0"/>
              <a:cs typeface="Calibri" pitchFamily="34" charset="0"/>
            </a:endParaRPr>
          </a:p>
        </p:txBody>
      </p:sp>
      <p:cxnSp>
        <p:nvCxnSpPr>
          <p:cNvPr id="27" name="Conector de seta reta 13"/>
          <p:cNvCxnSpPr/>
          <p:nvPr/>
        </p:nvCxnSpPr>
        <p:spPr>
          <a:xfrm flipV="1">
            <a:off x="5195689" y="1290001"/>
            <a:ext cx="774505" cy="221422"/>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sp>
        <p:nvSpPr>
          <p:cNvPr id="28" name="CaixaDeTexto 14"/>
          <p:cNvSpPr txBox="1"/>
          <p:nvPr/>
        </p:nvSpPr>
        <p:spPr>
          <a:xfrm>
            <a:off x="6021304" y="1052736"/>
            <a:ext cx="989823" cy="400110"/>
          </a:xfrm>
          <a:prstGeom prst="rect">
            <a:avLst/>
          </a:prstGeom>
          <a:noFill/>
        </p:spPr>
        <p:txBody>
          <a:bodyPr wrap="none" rtlCol="0">
            <a:spAutoFit/>
          </a:bodyPr>
          <a:lstStyle/>
          <a:p>
            <a:pPr algn="ctr"/>
            <a:r>
              <a:rPr lang="en-US" sz="2000" dirty="0" smtClean="0">
                <a:solidFill>
                  <a:schemeClr val="accent2">
                    <a:lumMod val="50000"/>
                  </a:schemeClr>
                </a:solidFill>
                <a:latin typeface="Calibri" pitchFamily="34" charset="0"/>
                <a:cs typeface="Calibri" pitchFamily="34" charset="0"/>
              </a:rPr>
              <a:t>peptide</a:t>
            </a:r>
            <a:endParaRPr lang="en-US" sz="2000" dirty="0">
              <a:solidFill>
                <a:schemeClr val="accent2">
                  <a:lumMod val="50000"/>
                </a:schemeClr>
              </a:solidFill>
              <a:latin typeface="Calibri" pitchFamily="34" charset="0"/>
              <a:cs typeface="Calibri" pitchFamily="34" charset="0"/>
            </a:endParaRPr>
          </a:p>
        </p:txBody>
      </p:sp>
      <p:sp>
        <p:nvSpPr>
          <p:cNvPr id="30" name="Right Brace 29"/>
          <p:cNvSpPr/>
          <p:nvPr/>
        </p:nvSpPr>
        <p:spPr>
          <a:xfrm flipH="1">
            <a:off x="2843808" y="1700808"/>
            <a:ext cx="229530" cy="2900312"/>
          </a:xfrm>
          <a:prstGeom prst="rightBrace">
            <a:avLst/>
          </a:prstGeom>
          <a:ln>
            <a:solidFill>
              <a:srgbClr val="8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4" name="Grupo 13"/>
          <p:cNvGrpSpPr/>
          <p:nvPr/>
        </p:nvGrpSpPr>
        <p:grpSpPr>
          <a:xfrm>
            <a:off x="4443016" y="5889466"/>
            <a:ext cx="1785168" cy="707886"/>
            <a:chOff x="3080470" y="5534222"/>
            <a:chExt cx="2161608" cy="707886"/>
          </a:xfrm>
        </p:grpSpPr>
        <p:sp>
          <p:nvSpPr>
            <p:cNvPr id="17" name="Retângulo 4"/>
            <p:cNvSpPr/>
            <p:nvPr/>
          </p:nvSpPr>
          <p:spPr>
            <a:xfrm>
              <a:off x="3151645" y="5534222"/>
              <a:ext cx="2082884" cy="70788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TextBox 10"/>
            <p:cNvSpPr txBox="1"/>
            <p:nvPr/>
          </p:nvSpPr>
          <p:spPr>
            <a:xfrm>
              <a:off x="3080470" y="5534222"/>
              <a:ext cx="2161608" cy="707886"/>
            </a:xfrm>
            <a:prstGeom prst="rect">
              <a:avLst/>
            </a:prstGeom>
            <a:noFill/>
          </p:spPr>
          <p:txBody>
            <a:bodyPr wrap="square" rtlCol="0">
              <a:spAutoFit/>
            </a:bodyPr>
            <a:lstStyle/>
            <a:p>
              <a:pPr algn="ctr"/>
              <a:r>
                <a:rPr lang="en-US" sz="2000" dirty="0" smtClean="0">
                  <a:solidFill>
                    <a:schemeClr val="accent2">
                      <a:lumMod val="50000"/>
                    </a:schemeClr>
                  </a:solidFill>
                  <a:latin typeface="Calibri" pitchFamily="34" charset="0"/>
                  <a:cs typeface="Calibri" pitchFamily="34" charset="0"/>
                </a:rPr>
                <a:t>peptide + HLA</a:t>
              </a:r>
            </a:p>
            <a:p>
              <a:pPr algn="ctr"/>
              <a:r>
                <a:rPr lang="en-US" sz="2000" dirty="0" smtClean="0">
                  <a:solidFill>
                    <a:schemeClr val="accent2">
                      <a:lumMod val="50000"/>
                    </a:schemeClr>
                  </a:solidFill>
                  <a:latin typeface="Calibri" pitchFamily="34" charset="0"/>
                  <a:cs typeface="Calibri" pitchFamily="34" charset="0"/>
                </a:rPr>
                <a:t>(</a:t>
              </a:r>
              <a:r>
                <a:rPr lang="en-US" sz="2000" dirty="0" err="1" smtClean="0">
                  <a:solidFill>
                    <a:schemeClr val="accent2">
                      <a:lumMod val="50000"/>
                    </a:schemeClr>
                  </a:solidFill>
                  <a:latin typeface="Calibri" pitchFamily="34" charset="0"/>
                  <a:cs typeface="Calibri" pitchFamily="34" charset="0"/>
                </a:rPr>
                <a:t>pHLA</a:t>
              </a:r>
              <a:r>
                <a:rPr lang="en-US" sz="2000" dirty="0" smtClean="0">
                  <a:solidFill>
                    <a:schemeClr val="accent2">
                      <a:lumMod val="50000"/>
                    </a:schemeClr>
                  </a:solidFill>
                  <a:latin typeface="Calibri" pitchFamily="34" charset="0"/>
                  <a:cs typeface="Calibri" pitchFamily="34" charset="0"/>
                </a:rPr>
                <a:t>) </a:t>
              </a:r>
            </a:p>
          </p:txBody>
        </p:sp>
      </p:grpSp>
    </p:spTree>
    <p:extLst>
      <p:ext uri="{BB962C8B-B14F-4D97-AF65-F5344CB8AC3E}">
        <p14:creationId xmlns:p14="http://schemas.microsoft.com/office/powerpoint/2010/main" val="10128166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Structure of the </a:t>
            </a:r>
            <a:r>
              <a:rPr lang="en-US" sz="3200" dirty="0" err="1" smtClean="0">
                <a:solidFill>
                  <a:schemeClr val="accent2">
                    <a:lumMod val="50000"/>
                  </a:schemeClr>
                </a:solidFill>
                <a:latin typeface="Calibri" pitchFamily="34" charset="0"/>
                <a:cs typeface="Calibri" pitchFamily="34" charset="0"/>
              </a:rPr>
              <a:t>pHLA</a:t>
            </a:r>
            <a:r>
              <a:rPr lang="en-US" sz="3200" dirty="0" smtClean="0">
                <a:solidFill>
                  <a:schemeClr val="accent2">
                    <a:lumMod val="50000"/>
                  </a:schemeClr>
                </a:solidFill>
                <a:latin typeface="Calibri" pitchFamily="34" charset="0"/>
                <a:cs typeface="Calibri" pitchFamily="34" charset="0"/>
              </a:rPr>
              <a:t> complex</a:t>
            </a:r>
            <a:endParaRPr lang="en-US" sz="3200" dirty="0" smtClean="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2" name="Rectangle 1"/>
          <p:cNvSpPr/>
          <p:nvPr/>
        </p:nvSpPr>
        <p:spPr>
          <a:xfrm>
            <a:off x="4211960" y="764704"/>
            <a:ext cx="576064"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HLA_structure.avi">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59632" y="715781"/>
            <a:ext cx="6228804" cy="6115553"/>
          </a:xfrm>
          <a:prstGeom prst="rect">
            <a:avLst/>
          </a:prstGeom>
        </p:spPr>
      </p:pic>
    </p:spTree>
    <p:extLst>
      <p:ext uri="{BB962C8B-B14F-4D97-AF65-F5344CB8AC3E}">
        <p14:creationId xmlns:p14="http://schemas.microsoft.com/office/powerpoint/2010/main" val="66877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1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a:solidFill>
                  <a:schemeClr val="accent2">
                    <a:lumMod val="50000"/>
                  </a:schemeClr>
                </a:solidFill>
                <a:latin typeface="Calibri" pitchFamily="34" charset="0"/>
                <a:cs typeface="Calibri" pitchFamily="34" charset="0"/>
              </a:rPr>
              <a:t>Structure of the </a:t>
            </a:r>
            <a:r>
              <a:rPr lang="en-US" sz="3200" dirty="0" err="1">
                <a:solidFill>
                  <a:schemeClr val="accent2">
                    <a:lumMod val="50000"/>
                  </a:schemeClr>
                </a:solidFill>
                <a:latin typeface="Calibri" pitchFamily="34" charset="0"/>
                <a:cs typeface="Calibri" pitchFamily="34" charset="0"/>
              </a:rPr>
              <a:t>pHLA</a:t>
            </a:r>
            <a:r>
              <a:rPr lang="en-US" sz="3200" dirty="0">
                <a:solidFill>
                  <a:schemeClr val="accent2">
                    <a:lumMod val="50000"/>
                  </a:schemeClr>
                </a:solidFill>
                <a:latin typeface="Calibri" pitchFamily="34" charset="0"/>
                <a:cs typeface="Calibri" pitchFamily="34" charset="0"/>
              </a:rPr>
              <a:t> complex </a:t>
            </a:r>
            <a:r>
              <a:rPr lang="en-US" sz="3200" dirty="0" smtClean="0">
                <a:solidFill>
                  <a:schemeClr val="accent2">
                    <a:lumMod val="50000"/>
                  </a:schemeClr>
                </a:solidFill>
                <a:latin typeface="Calibri" pitchFamily="34" charset="0"/>
                <a:cs typeface="Calibri" pitchFamily="34" charset="0"/>
              </a:rPr>
              <a:t>(top view</a:t>
            </a:r>
            <a:r>
              <a:rPr lang="en-US" sz="3200" dirty="0">
                <a:solidFill>
                  <a:schemeClr val="accent2">
                    <a:lumMod val="50000"/>
                  </a:schemeClr>
                </a:solidFill>
                <a:latin typeface="Calibri" pitchFamily="34" charset="0"/>
                <a:cs typeface="Calibri" pitchFamily="34" charset="0"/>
              </a:rPr>
              <a:t>)</a:t>
            </a:r>
            <a:endParaRPr lang="en-US" sz="3200" dirty="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13" name="Rectangle 12"/>
          <p:cNvSpPr/>
          <p:nvPr/>
        </p:nvSpPr>
        <p:spPr>
          <a:xfrm>
            <a:off x="6135528" y="1307792"/>
            <a:ext cx="884744"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463120" y="1340768"/>
            <a:ext cx="721102" cy="438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9230" t="13333" r="8556" b="11528"/>
          <a:stretch/>
        </p:blipFill>
        <p:spPr>
          <a:xfrm>
            <a:off x="1605636" y="1268760"/>
            <a:ext cx="5549127" cy="4929520"/>
          </a:xfrm>
          <a:prstGeom prst="rect">
            <a:avLst/>
          </a:prstGeom>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358474">
            <a:off x="1994387" y="1438415"/>
            <a:ext cx="5088345" cy="45539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9555" y="6181253"/>
            <a:ext cx="675481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799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4" presetClass="entr" presetSubtype="10" fill="hold" nodeType="withEffect">
                                  <p:stCondLst>
                                    <p:cond delay="0"/>
                                  </p:stCondLst>
                                  <p:childTnLst>
                                    <p:set>
                                      <p:cBhvr>
                                        <p:cTn id="9" dur="1" fill="hold">
                                          <p:stCondLst>
                                            <p:cond delay="0"/>
                                          </p:stCondLst>
                                        </p:cTn>
                                        <p:tgtEl>
                                          <p:spTgt spid="2050"/>
                                        </p:tgtEl>
                                        <p:attrNameLst>
                                          <p:attrName>style.visibility</p:attrName>
                                        </p:attrNameLst>
                                      </p:cBhvr>
                                      <p:to>
                                        <p:strVal val="visible"/>
                                      </p:to>
                                    </p:set>
                                    <p:animEffect transition="in" filter="randombar(horizontal)">
                                      <p:cBhvr>
                                        <p:cTn id="10" dur="500"/>
                                        <p:tgtEl>
                                          <p:spTgt spid="2050"/>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fade">
                                      <p:cBhvr>
                                        <p:cTn id="14"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0440" y="3017520"/>
            <a:ext cx="5621839" cy="3858768"/>
          </a:xfrm>
          <a:prstGeom prst="rect">
            <a:avLst/>
          </a:prstGeom>
        </p:spPr>
      </p:pic>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HLA diversity</a:t>
            </a:r>
            <a:endParaRPr lang="en-US" sz="3200" dirty="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13" name="TextBox 12"/>
          <p:cNvSpPr txBox="1"/>
          <p:nvPr/>
        </p:nvSpPr>
        <p:spPr>
          <a:xfrm>
            <a:off x="652523" y="1052736"/>
            <a:ext cx="7891519" cy="400110"/>
          </a:xfrm>
          <a:prstGeom prst="rect">
            <a:avLst/>
          </a:prstGeom>
          <a:noFill/>
        </p:spPr>
        <p:txBody>
          <a:bodyPr wrap="none" rtlCol="0">
            <a:spAutoFit/>
          </a:bodyPr>
          <a:lstStyle/>
          <a:p>
            <a:pPr algn="ctr"/>
            <a:r>
              <a:rPr lang="en-US" sz="2000" dirty="0" smtClean="0">
                <a:solidFill>
                  <a:schemeClr val="accent2">
                    <a:lumMod val="50000"/>
                  </a:schemeClr>
                </a:solidFill>
                <a:latin typeface="Calibri" pitchFamily="34" charset="0"/>
                <a:cs typeface="Calibri" pitchFamily="34" charset="0"/>
              </a:rPr>
              <a:t>More than 10,000 known alleles of class I HLAs in the human population!!!</a:t>
            </a:r>
            <a:endParaRPr lang="en-US" sz="2000" dirty="0">
              <a:solidFill>
                <a:schemeClr val="accent2">
                  <a:lumMod val="50000"/>
                </a:schemeClr>
              </a:solidFill>
              <a:latin typeface="Calibri" pitchFamily="34" charset="0"/>
              <a:cs typeface="Calibri" pitchFamily="34" charset="0"/>
            </a:endParaRPr>
          </a:p>
        </p:txBody>
      </p:sp>
      <p:pic>
        <p:nvPicPr>
          <p:cNvPr id="2" name="Imagem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22914" y="3021492"/>
            <a:ext cx="5621085" cy="3858250"/>
          </a:xfrm>
          <a:prstGeom prst="rect">
            <a:avLst/>
          </a:prstGeom>
        </p:spPr>
      </p:pic>
      <p:grpSp>
        <p:nvGrpSpPr>
          <p:cNvPr id="18" name="Grupo 17"/>
          <p:cNvGrpSpPr/>
          <p:nvPr/>
        </p:nvGrpSpPr>
        <p:grpSpPr>
          <a:xfrm>
            <a:off x="4788024" y="2612372"/>
            <a:ext cx="3240360" cy="744620"/>
            <a:chOff x="2907780" y="5509682"/>
            <a:chExt cx="3240360" cy="744620"/>
          </a:xfrm>
        </p:grpSpPr>
        <p:sp>
          <p:nvSpPr>
            <p:cNvPr id="19" name="Retângulo 4"/>
            <p:cNvSpPr/>
            <p:nvPr/>
          </p:nvSpPr>
          <p:spPr>
            <a:xfrm>
              <a:off x="2915816" y="5509682"/>
              <a:ext cx="3232324" cy="74462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TextBox 10"/>
            <p:cNvSpPr txBox="1"/>
            <p:nvPr/>
          </p:nvSpPr>
          <p:spPr>
            <a:xfrm>
              <a:off x="2907780" y="5517232"/>
              <a:ext cx="3232323" cy="707886"/>
            </a:xfrm>
            <a:prstGeom prst="rect">
              <a:avLst/>
            </a:prstGeom>
            <a:noFill/>
          </p:spPr>
          <p:txBody>
            <a:bodyPr wrap="square" rtlCol="0">
              <a:spAutoFit/>
            </a:bodyPr>
            <a:lstStyle/>
            <a:p>
              <a:pPr algn="ctr"/>
              <a:r>
                <a:rPr lang="en-US" sz="2000" dirty="0" smtClean="0">
                  <a:solidFill>
                    <a:schemeClr val="accent2">
                      <a:lumMod val="50000"/>
                    </a:schemeClr>
                  </a:solidFill>
                  <a:latin typeface="Calibri" pitchFamily="34" charset="0"/>
                  <a:cs typeface="Calibri" pitchFamily="34" charset="0"/>
                </a:rPr>
                <a:t>Different HLAs display different pools of peptides</a:t>
              </a:r>
            </a:p>
          </p:txBody>
        </p:sp>
      </p:grpSp>
      <p:pic>
        <p:nvPicPr>
          <p:cNvPr id="16" name="Imagem 15"/>
          <p:cNvPicPr>
            <a:picLocks noChangeAspect="1"/>
          </p:cNvPicPr>
          <p:nvPr/>
        </p:nvPicPr>
        <p:blipFill rotWithShape="1">
          <a:blip r:embed="rId5">
            <a:extLst>
              <a:ext uri="{28A0092B-C50C-407E-A947-70E740481C1C}">
                <a14:useLocalDpi xmlns:a14="http://schemas.microsoft.com/office/drawing/2010/main" val="0"/>
              </a:ext>
            </a:extLst>
          </a:blip>
          <a:srcRect r="14766" b="2334"/>
          <a:stretch/>
        </p:blipFill>
        <p:spPr>
          <a:xfrm>
            <a:off x="539552" y="1988840"/>
            <a:ext cx="3191523" cy="3657048"/>
          </a:xfrm>
          <a:prstGeom prst="rect">
            <a:avLst/>
          </a:prstGeom>
        </p:spPr>
      </p:pic>
    </p:spTree>
    <p:extLst>
      <p:ext uri="{BB962C8B-B14F-4D97-AF65-F5344CB8AC3E}">
        <p14:creationId xmlns:p14="http://schemas.microsoft.com/office/powerpoint/2010/main" val="92499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Need for personalized approaches</a:t>
            </a:r>
            <a:endParaRPr lang="en-US" sz="3200" dirty="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13" name="TextBox 12"/>
          <p:cNvSpPr txBox="1"/>
          <p:nvPr/>
        </p:nvSpPr>
        <p:spPr>
          <a:xfrm>
            <a:off x="652523" y="1052736"/>
            <a:ext cx="7891519" cy="400110"/>
          </a:xfrm>
          <a:prstGeom prst="rect">
            <a:avLst/>
          </a:prstGeom>
          <a:noFill/>
        </p:spPr>
        <p:txBody>
          <a:bodyPr wrap="none" rtlCol="0">
            <a:spAutoFit/>
          </a:bodyPr>
          <a:lstStyle/>
          <a:p>
            <a:pPr algn="ctr"/>
            <a:r>
              <a:rPr lang="en-US" sz="2000" dirty="0" smtClean="0">
                <a:solidFill>
                  <a:schemeClr val="accent2">
                    <a:lumMod val="50000"/>
                  </a:schemeClr>
                </a:solidFill>
                <a:latin typeface="Calibri" pitchFamily="34" charset="0"/>
                <a:cs typeface="Calibri" pitchFamily="34" charset="0"/>
              </a:rPr>
              <a:t>More than 10,000 known alleles of class I HLAs in the human population!!!</a:t>
            </a:r>
            <a:endParaRPr lang="en-US" sz="2000" dirty="0">
              <a:solidFill>
                <a:schemeClr val="accent2">
                  <a:lumMod val="50000"/>
                </a:schemeClr>
              </a:solidFill>
              <a:latin typeface="Calibri" pitchFamily="34" charset="0"/>
              <a:cs typeface="Calibri" pitchFamily="34" charset="0"/>
            </a:endParaRPr>
          </a:p>
        </p:txBody>
      </p:sp>
      <p:grpSp>
        <p:nvGrpSpPr>
          <p:cNvPr id="10" name="Grupo 9"/>
          <p:cNvGrpSpPr/>
          <p:nvPr/>
        </p:nvGrpSpPr>
        <p:grpSpPr>
          <a:xfrm>
            <a:off x="1763688" y="5871282"/>
            <a:ext cx="5616625" cy="726070"/>
            <a:chOff x="3410055" y="5499048"/>
            <a:chExt cx="2495925" cy="726070"/>
          </a:xfrm>
        </p:grpSpPr>
        <p:sp>
          <p:nvSpPr>
            <p:cNvPr id="11" name="Retângulo 4"/>
            <p:cNvSpPr/>
            <p:nvPr/>
          </p:nvSpPr>
          <p:spPr>
            <a:xfrm>
              <a:off x="3474054" y="5509681"/>
              <a:ext cx="2399927" cy="71543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Box 10"/>
            <p:cNvSpPr txBox="1"/>
            <p:nvPr/>
          </p:nvSpPr>
          <p:spPr>
            <a:xfrm>
              <a:off x="3410055" y="5499048"/>
              <a:ext cx="2495925" cy="707886"/>
            </a:xfrm>
            <a:prstGeom prst="rect">
              <a:avLst/>
            </a:prstGeom>
            <a:noFill/>
          </p:spPr>
          <p:txBody>
            <a:bodyPr wrap="square" rtlCol="0">
              <a:spAutoFit/>
            </a:bodyPr>
            <a:lstStyle/>
            <a:p>
              <a:pPr algn="ctr"/>
              <a:r>
                <a:rPr lang="en-US" sz="2000" dirty="0" smtClean="0">
                  <a:solidFill>
                    <a:schemeClr val="accent2">
                      <a:lumMod val="50000"/>
                    </a:schemeClr>
                  </a:solidFill>
                  <a:latin typeface="Calibri" pitchFamily="34" charset="0"/>
                  <a:cs typeface="Calibri" pitchFamily="34" charset="0"/>
                </a:rPr>
                <a:t>T-cell-based Immunotherapy requires</a:t>
              </a:r>
            </a:p>
            <a:p>
              <a:pPr algn="ctr"/>
              <a:r>
                <a:rPr lang="en-US" sz="2000" dirty="0" smtClean="0">
                  <a:solidFill>
                    <a:schemeClr val="accent2">
                      <a:lumMod val="50000"/>
                    </a:schemeClr>
                  </a:solidFill>
                  <a:latin typeface="Calibri" pitchFamily="34" charset="0"/>
                  <a:cs typeface="Calibri" pitchFamily="34" charset="0"/>
                </a:rPr>
                <a:t>personalized analyses of peptide-HLA complexes</a:t>
              </a:r>
            </a:p>
          </p:txBody>
        </p:sp>
      </p:grpSp>
      <p:grpSp>
        <p:nvGrpSpPr>
          <p:cNvPr id="14" name="Grupo 13"/>
          <p:cNvGrpSpPr/>
          <p:nvPr/>
        </p:nvGrpSpPr>
        <p:grpSpPr>
          <a:xfrm>
            <a:off x="3491880" y="1844824"/>
            <a:ext cx="2363339" cy="3393668"/>
            <a:chOff x="5364088" y="1772816"/>
            <a:chExt cx="2363339" cy="3393668"/>
          </a:xfrm>
        </p:grpSpPr>
        <p:sp>
          <p:nvSpPr>
            <p:cNvPr id="15" name="TextBox 3"/>
            <p:cNvSpPr txBox="1"/>
            <p:nvPr/>
          </p:nvSpPr>
          <p:spPr>
            <a:xfrm>
              <a:off x="5364088" y="1772816"/>
              <a:ext cx="2363339" cy="369332"/>
            </a:xfrm>
            <a:prstGeom prst="rect">
              <a:avLst/>
            </a:prstGeom>
            <a:noFill/>
          </p:spPr>
          <p:txBody>
            <a:bodyPr wrap="none" rtlCol="0">
              <a:spAutoFit/>
            </a:bodyPr>
            <a:lstStyle/>
            <a:p>
              <a:pPr algn="ctr"/>
              <a:r>
                <a:rPr lang="en-US" b="1" dirty="0" smtClean="0">
                  <a:solidFill>
                    <a:srgbClr val="A5291F"/>
                  </a:solidFill>
                  <a:latin typeface="Calibri" pitchFamily="34" charset="0"/>
                  <a:cs typeface="Calibri" pitchFamily="34" charset="0"/>
                </a:rPr>
                <a:t>tumor-derived peptide</a:t>
              </a:r>
              <a:endParaRPr lang="en-US" b="1" dirty="0">
                <a:solidFill>
                  <a:srgbClr val="A5291F"/>
                </a:solidFill>
              </a:endParaRPr>
            </a:p>
          </p:txBody>
        </p:sp>
        <p:sp>
          <p:nvSpPr>
            <p:cNvPr id="17" name="TextBox 4"/>
            <p:cNvSpPr txBox="1"/>
            <p:nvPr/>
          </p:nvSpPr>
          <p:spPr>
            <a:xfrm>
              <a:off x="5499767" y="4797152"/>
              <a:ext cx="2088007" cy="369332"/>
            </a:xfrm>
            <a:prstGeom prst="rect">
              <a:avLst/>
            </a:prstGeom>
            <a:noFill/>
          </p:spPr>
          <p:txBody>
            <a:bodyPr wrap="none" rtlCol="0">
              <a:spAutoFit/>
            </a:bodyPr>
            <a:lstStyle/>
            <a:p>
              <a:pPr algn="ctr"/>
              <a:r>
                <a:rPr lang="en-US" b="1" dirty="0" smtClean="0">
                  <a:solidFill>
                    <a:srgbClr val="B3811D"/>
                  </a:solidFill>
                  <a:latin typeface="Calibri" pitchFamily="34" charset="0"/>
                  <a:cs typeface="Calibri" pitchFamily="34" charset="0"/>
                </a:rPr>
                <a:t>patient-specific HLA</a:t>
              </a:r>
              <a:endParaRPr lang="en-US" b="1" dirty="0">
                <a:solidFill>
                  <a:srgbClr val="B3811D"/>
                </a:solidFill>
              </a:endParaRPr>
            </a:p>
          </p:txBody>
        </p:sp>
        <p:pic>
          <p:nvPicPr>
            <p:cNvPr id="20" name="Picture 2"/>
            <p:cNvPicPr>
              <a:picLocks noChangeAspect="1"/>
            </p:cNvPicPr>
            <p:nvPr/>
          </p:nvPicPr>
          <p:blipFill rotWithShape="1">
            <a:blip r:embed="rId3" cstate="print">
              <a:extLst>
                <a:ext uri="{28A0092B-C50C-407E-A947-70E740481C1C}">
                  <a14:useLocalDpi xmlns:a14="http://schemas.microsoft.com/office/drawing/2010/main" val="0"/>
                </a:ext>
              </a:extLst>
            </a:blip>
            <a:srcRect r="70079" b="50000"/>
            <a:stretch/>
          </p:blipFill>
          <p:spPr>
            <a:xfrm>
              <a:off x="5709211" y="2070140"/>
              <a:ext cx="1800200" cy="2807731"/>
            </a:xfrm>
            <a:prstGeom prst="rect">
              <a:avLst/>
            </a:prstGeom>
          </p:spPr>
        </p:pic>
      </p:grpSp>
      <p:sp>
        <p:nvSpPr>
          <p:cNvPr id="22" name="Rectangle 1"/>
          <p:cNvSpPr/>
          <p:nvPr/>
        </p:nvSpPr>
        <p:spPr>
          <a:xfrm>
            <a:off x="3837003" y="2142148"/>
            <a:ext cx="360040"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tângulo 22"/>
          <p:cNvSpPr/>
          <p:nvPr/>
        </p:nvSpPr>
        <p:spPr>
          <a:xfrm>
            <a:off x="4788024" y="2314971"/>
            <a:ext cx="648072" cy="278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15428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The Problem</a:t>
            </a:r>
            <a:endParaRPr lang="en-US" sz="3200" dirty="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19" name="CaixaDeTexto 3"/>
          <p:cNvSpPr txBox="1"/>
          <p:nvPr/>
        </p:nvSpPr>
        <p:spPr>
          <a:xfrm>
            <a:off x="251520" y="2383720"/>
            <a:ext cx="8640960" cy="1477328"/>
          </a:xfrm>
          <a:prstGeom prst="rect">
            <a:avLst/>
          </a:prstGeom>
          <a:solidFill>
            <a:schemeClr val="bg1"/>
          </a:solidFill>
        </p:spPr>
        <p:txBody>
          <a:bodyPr wrap="square" rtlCol="0">
            <a:spAutoFit/>
          </a:bodyPr>
          <a:lstStyle/>
          <a:p>
            <a:pPr marL="0" lvl="2" algn="just">
              <a:spcAft>
                <a:spcPts val="150"/>
              </a:spcAft>
            </a:pPr>
            <a:r>
              <a:rPr lang="en-US" sz="3000" dirty="0">
                <a:solidFill>
                  <a:schemeClr val="accent2">
                    <a:lumMod val="50000"/>
                  </a:schemeClr>
                </a:solidFill>
                <a:latin typeface="Calibri" pitchFamily="34" charset="0"/>
                <a:cs typeface="Calibri" pitchFamily="34" charset="0"/>
              </a:rPr>
              <a:t>Perform accurate </a:t>
            </a:r>
            <a:r>
              <a:rPr lang="en-US" sz="3000" dirty="0" smtClean="0">
                <a:solidFill>
                  <a:schemeClr val="accent2">
                    <a:lumMod val="50000"/>
                  </a:schemeClr>
                </a:solidFill>
                <a:latin typeface="Calibri" pitchFamily="34" charset="0"/>
                <a:cs typeface="Calibri" pitchFamily="34" charset="0"/>
              </a:rPr>
              <a:t>structural prediction </a:t>
            </a:r>
            <a:r>
              <a:rPr lang="en-US" sz="3000" dirty="0">
                <a:solidFill>
                  <a:schemeClr val="accent2">
                    <a:lumMod val="50000"/>
                  </a:schemeClr>
                </a:solidFill>
                <a:latin typeface="Calibri" pitchFamily="34" charset="0"/>
                <a:cs typeface="Calibri" pitchFamily="34" charset="0"/>
              </a:rPr>
              <a:t>of the binding modes of </a:t>
            </a:r>
            <a:r>
              <a:rPr lang="en-US" sz="3000" dirty="0" smtClean="0">
                <a:solidFill>
                  <a:schemeClr val="accent2">
                    <a:lumMod val="50000"/>
                  </a:schemeClr>
                </a:solidFill>
                <a:latin typeface="Calibri" pitchFamily="34" charset="0"/>
                <a:cs typeface="Calibri" pitchFamily="34" charset="0"/>
              </a:rPr>
              <a:t>tumor-derived peptides to patient-specific HLA molecules, using computational methods</a:t>
            </a:r>
            <a:endParaRPr lang="en-US" sz="3000" dirty="0">
              <a:solidFill>
                <a:schemeClr val="accent2">
                  <a:lumMod val="50000"/>
                </a:schemeClr>
              </a:solidFill>
              <a:latin typeface="Calibri" pitchFamily="34" charset="0"/>
              <a:cs typeface="Calibri" pitchFamily="34" charset="0"/>
            </a:endParaRPr>
          </a:p>
        </p:txBody>
      </p:sp>
    </p:spTree>
    <p:extLst>
      <p:ext uri="{BB962C8B-B14F-4D97-AF65-F5344CB8AC3E}">
        <p14:creationId xmlns:p14="http://schemas.microsoft.com/office/powerpoint/2010/main" val="8819483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Molecular Docking</a:t>
            </a:r>
            <a:endParaRPr lang="en-US" sz="3200" dirty="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pic>
        <p:nvPicPr>
          <p:cNvPr id="3" name="Imagem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544" y="949196"/>
            <a:ext cx="4258208" cy="2767836"/>
          </a:xfrm>
          <a:prstGeom prst="rect">
            <a:avLst/>
          </a:prstGeom>
        </p:spPr>
      </p:pic>
      <p:grpSp>
        <p:nvGrpSpPr>
          <p:cNvPr id="8" name="Grupo 1"/>
          <p:cNvGrpSpPr/>
          <p:nvPr/>
        </p:nvGrpSpPr>
        <p:grpSpPr>
          <a:xfrm>
            <a:off x="3533871" y="5373216"/>
            <a:ext cx="2550297" cy="967957"/>
            <a:chOff x="-1238088" y="2518792"/>
            <a:chExt cx="1764196" cy="967957"/>
          </a:xfrm>
        </p:grpSpPr>
        <p:sp>
          <p:nvSpPr>
            <p:cNvPr id="9" name="Retângulo 4"/>
            <p:cNvSpPr/>
            <p:nvPr/>
          </p:nvSpPr>
          <p:spPr>
            <a:xfrm>
              <a:off x="-1238088" y="2636912"/>
              <a:ext cx="1764196" cy="84983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5"/>
            <p:cNvSpPr txBox="1"/>
            <p:nvPr/>
          </p:nvSpPr>
          <p:spPr>
            <a:xfrm>
              <a:off x="-1238088" y="2518792"/>
              <a:ext cx="1764196" cy="967957"/>
            </a:xfrm>
            <a:prstGeom prst="rect">
              <a:avLst/>
            </a:prstGeom>
            <a:noFill/>
          </p:spPr>
          <p:txBody>
            <a:bodyPr wrap="square" rtlCol="0">
              <a:spAutoFit/>
            </a:bodyPr>
            <a:lstStyle/>
            <a:p>
              <a:pPr marL="0" lvl="1" algn="ctr">
                <a:lnSpc>
                  <a:spcPct val="150000"/>
                </a:lnSpc>
              </a:pPr>
              <a:r>
                <a:rPr lang="en-US" sz="2000" b="1" dirty="0" smtClean="0">
                  <a:solidFill>
                    <a:schemeClr val="accent2">
                      <a:lumMod val="50000"/>
                    </a:schemeClr>
                  </a:solidFill>
                  <a:latin typeface="Calibri" pitchFamily="34" charset="0"/>
                  <a:cs typeface="Calibri" pitchFamily="34" charset="0"/>
                </a:rPr>
                <a:t>Drug-like ligands</a:t>
              </a:r>
              <a:br>
                <a:rPr lang="en-US" sz="2000" b="1" dirty="0" smtClean="0">
                  <a:solidFill>
                    <a:schemeClr val="accent2">
                      <a:lumMod val="50000"/>
                    </a:schemeClr>
                  </a:solidFill>
                  <a:latin typeface="Calibri" pitchFamily="34" charset="0"/>
                  <a:cs typeface="Calibri" pitchFamily="34" charset="0"/>
                </a:rPr>
              </a:br>
              <a:r>
                <a:rPr lang="en-US" sz="2000" b="1" dirty="0" err="1" smtClean="0">
                  <a:solidFill>
                    <a:schemeClr val="accent2">
                      <a:lumMod val="50000"/>
                    </a:schemeClr>
                  </a:solidFill>
                  <a:latin typeface="Calibri" pitchFamily="34" charset="0"/>
                  <a:cs typeface="Calibri" pitchFamily="34" charset="0"/>
                </a:rPr>
                <a:t>DoFs</a:t>
              </a:r>
              <a:r>
                <a:rPr lang="en-US" sz="2000" b="1" dirty="0" smtClean="0">
                  <a:solidFill>
                    <a:schemeClr val="accent2">
                      <a:lumMod val="50000"/>
                    </a:schemeClr>
                  </a:solidFill>
                  <a:latin typeface="Calibri" pitchFamily="34" charset="0"/>
                  <a:cs typeface="Calibri" pitchFamily="34" charset="0"/>
                </a:rPr>
                <a:t>.: Up to 10 </a:t>
              </a:r>
              <a:r>
                <a:rPr lang="en-US" sz="2000" b="1" dirty="0" err="1" smtClean="0">
                  <a:solidFill>
                    <a:schemeClr val="accent2">
                      <a:lumMod val="50000"/>
                    </a:schemeClr>
                  </a:solidFill>
                  <a:latin typeface="Calibri" pitchFamily="34" charset="0"/>
                  <a:cs typeface="Calibri" pitchFamily="34" charset="0"/>
                </a:rPr>
                <a:t>DoFs</a:t>
              </a:r>
              <a:endParaRPr lang="pt-BR" sz="2000" b="1" dirty="0">
                <a:solidFill>
                  <a:schemeClr val="accent2">
                    <a:lumMod val="50000"/>
                  </a:schemeClr>
                </a:solidFill>
                <a:latin typeface="Calibri" pitchFamily="34" charset="0"/>
                <a:cs typeface="Calibri" pitchFamily="34" charset="0"/>
              </a:endParaRPr>
            </a:p>
          </p:txBody>
        </p:sp>
      </p:grpSp>
      <p:sp>
        <p:nvSpPr>
          <p:cNvPr id="11" name="TextBox 10"/>
          <p:cNvSpPr txBox="1"/>
          <p:nvPr/>
        </p:nvSpPr>
        <p:spPr>
          <a:xfrm>
            <a:off x="1691680" y="4069521"/>
            <a:ext cx="6920770"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smtClean="0">
                <a:solidFill>
                  <a:schemeClr val="accent2">
                    <a:lumMod val="50000"/>
                  </a:schemeClr>
                </a:solidFill>
                <a:latin typeface="Calibri" pitchFamily="34" charset="0"/>
                <a:cs typeface="Calibri" pitchFamily="34" charset="0"/>
              </a:rPr>
              <a:t>Molecular Docking Applications:</a:t>
            </a:r>
          </a:p>
          <a:p>
            <a:pPr marL="225425" lvl="1"/>
            <a:r>
              <a:rPr lang="en-US" sz="2000" dirty="0" smtClean="0">
                <a:solidFill>
                  <a:schemeClr val="accent2">
                    <a:lumMod val="50000"/>
                  </a:schemeClr>
                </a:solidFill>
                <a:latin typeface="Calibri" pitchFamily="34" charset="0"/>
                <a:cs typeface="Calibri" pitchFamily="34" charset="0"/>
              </a:rPr>
              <a:t>*  Binding mode prediction/</a:t>
            </a:r>
            <a:r>
              <a:rPr lang="en-US" sz="2000" b="1" dirty="0">
                <a:solidFill>
                  <a:schemeClr val="accent2">
                    <a:lumMod val="50000"/>
                  </a:schemeClr>
                </a:solidFill>
                <a:latin typeface="Calibri" pitchFamily="34" charset="0"/>
                <a:cs typeface="Calibri" pitchFamily="34" charset="0"/>
              </a:rPr>
              <a:t>g</a:t>
            </a:r>
            <a:r>
              <a:rPr lang="en-US" sz="2000" b="1" dirty="0" smtClean="0">
                <a:solidFill>
                  <a:schemeClr val="accent2">
                    <a:lumMod val="50000"/>
                  </a:schemeClr>
                </a:solidFill>
                <a:latin typeface="Calibri" pitchFamily="34" charset="0"/>
                <a:cs typeface="Calibri" pitchFamily="34" charset="0"/>
              </a:rPr>
              <a:t>eometry Optimization</a:t>
            </a:r>
          </a:p>
          <a:p>
            <a:pPr marL="225425" lvl="1"/>
            <a:r>
              <a:rPr lang="en-US" sz="2000" dirty="0" smtClean="0">
                <a:solidFill>
                  <a:schemeClr val="accent2">
                    <a:lumMod val="50000"/>
                  </a:schemeClr>
                </a:solidFill>
                <a:latin typeface="Calibri" pitchFamily="34" charset="0"/>
                <a:cs typeface="Calibri" pitchFamily="34" charset="0"/>
              </a:rPr>
              <a:t>*  Structure-based </a:t>
            </a:r>
            <a:r>
              <a:rPr lang="en-US" sz="2000" b="1" dirty="0">
                <a:solidFill>
                  <a:schemeClr val="accent2">
                    <a:lumMod val="50000"/>
                  </a:schemeClr>
                </a:solidFill>
                <a:latin typeface="Calibri" pitchFamily="34" charset="0"/>
                <a:cs typeface="Calibri" pitchFamily="34" charset="0"/>
              </a:rPr>
              <a:t>virtual screening</a:t>
            </a:r>
            <a:r>
              <a:rPr lang="en-US" sz="2000" dirty="0">
                <a:solidFill>
                  <a:schemeClr val="accent2">
                    <a:lumMod val="50000"/>
                  </a:schemeClr>
                </a:solidFill>
                <a:latin typeface="Calibri" pitchFamily="34" charset="0"/>
                <a:cs typeface="Calibri" pitchFamily="34" charset="0"/>
              </a:rPr>
              <a:t> of </a:t>
            </a:r>
            <a:r>
              <a:rPr lang="en-US" sz="2000" dirty="0" smtClean="0">
                <a:solidFill>
                  <a:schemeClr val="accent2">
                    <a:lumMod val="50000"/>
                  </a:schemeClr>
                </a:solidFill>
                <a:latin typeface="Calibri" pitchFamily="34" charset="0"/>
                <a:cs typeface="Calibri" pitchFamily="34" charset="0"/>
              </a:rPr>
              <a:t>potential binders</a:t>
            </a:r>
            <a:endParaRPr lang="en-US" sz="1400" dirty="0">
              <a:solidFill>
                <a:schemeClr val="accent2">
                  <a:lumMod val="50000"/>
                </a:schemeClr>
              </a:solidFill>
              <a:latin typeface="Calibri" pitchFamily="34" charset="0"/>
              <a:cs typeface="Calibri" pitchFamily="34" charset="0"/>
            </a:endParaRP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056" y="1195655"/>
            <a:ext cx="3680410" cy="1656184"/>
          </a:xfrm>
          <a:prstGeom prst="rect">
            <a:avLst/>
          </a:prstGeom>
          <a:noFill/>
          <a:ln w="2857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4763139" y="2865130"/>
            <a:ext cx="4182299" cy="707886"/>
          </a:xfrm>
          <a:prstGeom prst="rect">
            <a:avLst/>
          </a:prstGeom>
          <a:noFill/>
        </p:spPr>
        <p:txBody>
          <a:bodyPr wrap="none" rtlCol="0">
            <a:spAutoFit/>
          </a:bodyPr>
          <a:lstStyle/>
          <a:p>
            <a:pPr marL="285750" indent="-285750" algn="ctr">
              <a:buFont typeface="Arial" panose="020B0604020202020204" pitchFamily="34" charset="0"/>
              <a:buChar char="•"/>
            </a:pPr>
            <a:r>
              <a:rPr lang="en-US" sz="2000" dirty="0">
                <a:solidFill>
                  <a:schemeClr val="accent2">
                    <a:lumMod val="50000"/>
                  </a:schemeClr>
                </a:solidFill>
                <a:latin typeface="Calibri" pitchFamily="34" charset="0"/>
                <a:cs typeface="Calibri" pitchFamily="34" charset="0"/>
              </a:rPr>
              <a:t>Rotation &amp; Translation</a:t>
            </a:r>
          </a:p>
          <a:p>
            <a:pPr marL="285750" indent="-285750" algn="ctr">
              <a:buFont typeface="Arial" panose="020B0604020202020204" pitchFamily="34" charset="0"/>
              <a:buChar char="•"/>
            </a:pPr>
            <a:r>
              <a:rPr lang="en-US" sz="2000" dirty="0">
                <a:solidFill>
                  <a:schemeClr val="accent2">
                    <a:lumMod val="50000"/>
                  </a:schemeClr>
                </a:solidFill>
                <a:latin typeface="Calibri" pitchFamily="34" charset="0"/>
                <a:cs typeface="Calibri" pitchFamily="34" charset="0"/>
              </a:rPr>
              <a:t>Internal </a:t>
            </a:r>
            <a:r>
              <a:rPr lang="en-US" sz="2000" dirty="0" smtClean="0">
                <a:solidFill>
                  <a:schemeClr val="accent2">
                    <a:lumMod val="50000"/>
                  </a:schemeClr>
                </a:solidFill>
                <a:latin typeface="Calibri" pitchFamily="34" charset="0"/>
                <a:cs typeface="Calibri" pitchFamily="34" charset="0"/>
              </a:rPr>
              <a:t>Degrees of Freedom (</a:t>
            </a:r>
            <a:r>
              <a:rPr lang="en-US" sz="2000" dirty="0" err="1" smtClean="0">
                <a:solidFill>
                  <a:schemeClr val="accent2">
                    <a:lumMod val="50000"/>
                  </a:schemeClr>
                </a:solidFill>
                <a:latin typeface="Calibri" pitchFamily="34" charset="0"/>
                <a:cs typeface="Calibri" pitchFamily="34" charset="0"/>
              </a:rPr>
              <a:t>DoFs</a:t>
            </a:r>
            <a:r>
              <a:rPr lang="en-US" sz="2000" dirty="0" smtClean="0">
                <a:solidFill>
                  <a:schemeClr val="accent2">
                    <a:lumMod val="50000"/>
                  </a:schemeClr>
                </a:solidFill>
                <a:latin typeface="Calibri" pitchFamily="34" charset="0"/>
                <a:cs typeface="Calibri" pitchFamily="34" charset="0"/>
              </a:rPr>
              <a:t>)</a:t>
            </a:r>
            <a:endParaRPr lang="en-US" sz="2000" dirty="0">
              <a:solidFill>
                <a:schemeClr val="accent2">
                  <a:lumMod val="50000"/>
                </a:schemeClr>
              </a:solidFill>
              <a:latin typeface="Calibri" pitchFamily="34" charset="0"/>
              <a:cs typeface="Calibri" pitchFamily="34" charset="0"/>
            </a:endParaRPr>
          </a:p>
        </p:txBody>
      </p:sp>
      <p:sp>
        <p:nvSpPr>
          <p:cNvPr id="15" name="Rectangle 14"/>
          <p:cNvSpPr/>
          <p:nvPr/>
        </p:nvSpPr>
        <p:spPr>
          <a:xfrm>
            <a:off x="5069158" y="1195654"/>
            <a:ext cx="3687308" cy="2377361"/>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494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The open challenge of docking large ligands</a:t>
            </a:r>
            <a:endParaRPr lang="en-US" sz="3200" dirty="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pic>
        <p:nvPicPr>
          <p:cNvPr id="2" name="Imagem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614" y="3741355"/>
            <a:ext cx="8340641" cy="2448272"/>
          </a:xfrm>
          <a:prstGeom prst="rect">
            <a:avLst/>
          </a:prstGeom>
        </p:spPr>
      </p:pic>
      <p:sp>
        <p:nvSpPr>
          <p:cNvPr id="13" name="TextBox 10"/>
          <p:cNvSpPr txBox="1"/>
          <p:nvPr/>
        </p:nvSpPr>
        <p:spPr>
          <a:xfrm>
            <a:off x="4540062" y="6174829"/>
            <a:ext cx="1886694" cy="400110"/>
          </a:xfrm>
          <a:prstGeom prst="rect">
            <a:avLst/>
          </a:prstGeom>
          <a:ln>
            <a:noFill/>
            <a:tailEnd type="arrow"/>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en-US" sz="2000" dirty="0" smtClean="0">
                <a:solidFill>
                  <a:schemeClr val="accent2">
                    <a:lumMod val="50000"/>
                  </a:schemeClr>
                </a:solidFill>
                <a:latin typeface="Calibri" pitchFamily="34" charset="0"/>
                <a:cs typeface="Calibri" pitchFamily="34" charset="0"/>
              </a:rPr>
              <a:t>Number of </a:t>
            </a:r>
            <a:r>
              <a:rPr lang="en-US" sz="2000" dirty="0" err="1" smtClean="0">
                <a:solidFill>
                  <a:schemeClr val="accent2">
                    <a:lumMod val="50000"/>
                  </a:schemeClr>
                </a:solidFill>
                <a:latin typeface="Calibri" pitchFamily="34" charset="0"/>
                <a:cs typeface="Calibri" pitchFamily="34" charset="0"/>
              </a:rPr>
              <a:t>DoFs</a:t>
            </a:r>
            <a:endParaRPr lang="en-US" sz="2000" dirty="0" smtClean="0">
              <a:solidFill>
                <a:schemeClr val="accent2">
                  <a:lumMod val="50000"/>
                </a:schemeClr>
              </a:solidFill>
              <a:latin typeface="Calibri" pitchFamily="34" charset="0"/>
              <a:cs typeface="Calibri" pitchFamily="34" charset="0"/>
            </a:endParaRPr>
          </a:p>
        </p:txBody>
      </p:sp>
      <p:sp>
        <p:nvSpPr>
          <p:cNvPr id="16" name="TextBox 10"/>
          <p:cNvSpPr txBox="1"/>
          <p:nvPr/>
        </p:nvSpPr>
        <p:spPr>
          <a:xfrm rot="16200000">
            <a:off x="-880573" y="4633101"/>
            <a:ext cx="2520280" cy="400110"/>
          </a:xfrm>
          <a:prstGeom prst="rect">
            <a:avLst/>
          </a:prstGeom>
          <a:ln>
            <a:noFill/>
            <a:tailEnd type="arrow"/>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en-US" sz="2000" dirty="0" smtClean="0">
                <a:solidFill>
                  <a:schemeClr val="accent2">
                    <a:lumMod val="50000"/>
                  </a:schemeClr>
                </a:solidFill>
                <a:latin typeface="Calibri" pitchFamily="34" charset="0"/>
                <a:cs typeface="Calibri" pitchFamily="34" charset="0"/>
              </a:rPr>
              <a:t>Docking Approaches</a:t>
            </a:r>
          </a:p>
        </p:txBody>
      </p:sp>
      <p:pic>
        <p:nvPicPr>
          <p:cNvPr id="4" name="Imagem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744" y="908720"/>
            <a:ext cx="7132627" cy="2232248"/>
          </a:xfrm>
          <a:prstGeom prst="rect">
            <a:avLst/>
          </a:prstGeom>
          <a:ln>
            <a:noFill/>
          </a:ln>
          <a:effectLst>
            <a:outerShdw blurRad="292100" dist="139700" dir="2700000" algn="tl" rotWithShape="0">
              <a:srgbClr val="333333">
                <a:alpha val="65000"/>
              </a:srgbClr>
            </a:outerShdw>
          </a:effectLst>
        </p:spPr>
      </p:pic>
      <p:sp>
        <p:nvSpPr>
          <p:cNvPr id="17" name="Retângulo 16"/>
          <p:cNvSpPr/>
          <p:nvPr/>
        </p:nvSpPr>
        <p:spPr>
          <a:xfrm>
            <a:off x="6732240" y="3731830"/>
            <a:ext cx="2211490" cy="22174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212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heel(1)">
                                      <p:cBhvr>
                                        <p:cTn id="1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3" cstate="print">
            <a:extLst>
              <a:ext uri="{28A0092B-C50C-407E-A947-70E740481C1C}">
                <a14:useLocalDpi xmlns:a14="http://schemas.microsoft.com/office/drawing/2010/main" val="0"/>
              </a:ext>
            </a:extLst>
          </a:blip>
          <a:srcRect l="38388" r="396" b="50000"/>
          <a:stretch/>
        </p:blipFill>
        <p:spPr>
          <a:xfrm>
            <a:off x="871634" y="1021672"/>
            <a:ext cx="7660806" cy="5840080"/>
          </a:xfrm>
          <a:prstGeom prst="rect">
            <a:avLst/>
          </a:prstGeom>
        </p:spPr>
      </p:pic>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HLA receptors bind large peptide ligands</a:t>
            </a:r>
            <a:endParaRPr lang="en-US" sz="3200" dirty="0" smtClean="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grpSp>
        <p:nvGrpSpPr>
          <p:cNvPr id="8" name="Grupo 11"/>
          <p:cNvGrpSpPr/>
          <p:nvPr/>
        </p:nvGrpSpPr>
        <p:grpSpPr>
          <a:xfrm>
            <a:off x="3491880" y="5517232"/>
            <a:ext cx="2785814" cy="967957"/>
            <a:chOff x="-1476332" y="2538421"/>
            <a:chExt cx="2304256" cy="967957"/>
          </a:xfrm>
        </p:grpSpPr>
        <p:sp>
          <p:nvSpPr>
            <p:cNvPr id="9" name="Retângulo 12"/>
            <p:cNvSpPr/>
            <p:nvPr/>
          </p:nvSpPr>
          <p:spPr>
            <a:xfrm>
              <a:off x="-1238088" y="2636912"/>
              <a:ext cx="1764196" cy="849837"/>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13"/>
            <p:cNvSpPr txBox="1"/>
            <p:nvPr/>
          </p:nvSpPr>
          <p:spPr>
            <a:xfrm>
              <a:off x="-1476332" y="2538421"/>
              <a:ext cx="2304256" cy="967957"/>
            </a:xfrm>
            <a:prstGeom prst="rect">
              <a:avLst/>
            </a:prstGeom>
            <a:noFill/>
          </p:spPr>
          <p:txBody>
            <a:bodyPr wrap="square" rtlCol="0">
              <a:spAutoFit/>
            </a:bodyPr>
            <a:lstStyle/>
            <a:p>
              <a:pPr marL="0" lvl="1" algn="ctr">
                <a:lnSpc>
                  <a:spcPct val="150000"/>
                </a:lnSpc>
              </a:pPr>
              <a:r>
                <a:rPr lang="en-US" sz="2000" b="1" dirty="0" smtClean="0">
                  <a:solidFill>
                    <a:schemeClr val="accent2">
                      <a:lumMod val="50000"/>
                    </a:schemeClr>
                  </a:solidFill>
                  <a:latin typeface="Calibri" pitchFamily="34" charset="0"/>
                  <a:cs typeface="Calibri" pitchFamily="34" charset="0"/>
                </a:rPr>
                <a:t>Length.: 8 – 11 aa </a:t>
              </a:r>
              <a:br>
                <a:rPr lang="en-US" sz="2000" b="1" dirty="0" smtClean="0">
                  <a:solidFill>
                    <a:schemeClr val="accent2">
                      <a:lumMod val="50000"/>
                    </a:schemeClr>
                  </a:solidFill>
                  <a:latin typeface="Calibri" pitchFamily="34" charset="0"/>
                  <a:cs typeface="Calibri" pitchFamily="34" charset="0"/>
                </a:rPr>
              </a:br>
              <a:r>
                <a:rPr lang="en-US" sz="2000" b="1" dirty="0" err="1" smtClean="0">
                  <a:solidFill>
                    <a:schemeClr val="accent2">
                      <a:lumMod val="50000"/>
                    </a:schemeClr>
                  </a:solidFill>
                  <a:latin typeface="Calibri" pitchFamily="34" charset="0"/>
                  <a:cs typeface="Calibri" pitchFamily="34" charset="0"/>
                </a:rPr>
                <a:t>DoFs</a:t>
              </a:r>
              <a:r>
                <a:rPr lang="en-US" sz="2000" b="1" dirty="0" smtClean="0">
                  <a:solidFill>
                    <a:schemeClr val="accent2">
                      <a:lumMod val="50000"/>
                    </a:schemeClr>
                  </a:solidFill>
                  <a:latin typeface="Calibri" pitchFamily="34" charset="0"/>
                  <a:cs typeface="Calibri" pitchFamily="34" charset="0"/>
                </a:rPr>
                <a:t>.: &gt;29 </a:t>
              </a:r>
              <a:endParaRPr lang="pt-BR" sz="2000" b="1" dirty="0">
                <a:solidFill>
                  <a:schemeClr val="accent2">
                    <a:lumMod val="50000"/>
                  </a:schemeClr>
                </a:solidFill>
                <a:latin typeface="Calibri" pitchFamily="34" charset="0"/>
                <a:cs typeface="Calibri" pitchFamily="34" charset="0"/>
              </a:endParaRPr>
            </a:p>
          </p:txBody>
        </p:sp>
      </p:grpSp>
      <p:sp>
        <p:nvSpPr>
          <p:cNvPr id="11" name="Rectangle 10"/>
          <p:cNvSpPr/>
          <p:nvPr/>
        </p:nvSpPr>
        <p:spPr>
          <a:xfrm>
            <a:off x="7236296" y="6419724"/>
            <a:ext cx="721102" cy="438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1053133" y="1021672"/>
            <a:ext cx="2232248" cy="1039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94038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9" y="836712"/>
            <a:ext cx="3240359" cy="2862322"/>
          </a:xfrm>
          <a:prstGeom prst="rect">
            <a:avLst/>
          </a:prstGeom>
          <a:noFill/>
        </p:spPr>
        <p:txBody>
          <a:bodyPr wrap="square" rtlCol="0">
            <a:spAutoFit/>
          </a:bodyPr>
          <a:lstStyle/>
          <a:p>
            <a:pPr lvl="1"/>
            <a:r>
              <a:rPr lang="en-US" sz="2000" dirty="0" smtClean="0">
                <a:solidFill>
                  <a:schemeClr val="accent2">
                    <a:lumMod val="50000"/>
                  </a:schemeClr>
                </a:solidFill>
                <a:latin typeface="Calibri" pitchFamily="34" charset="0"/>
                <a:cs typeface="Calibri" pitchFamily="34" charset="0"/>
              </a:rPr>
              <a:t>*  Tong </a:t>
            </a:r>
            <a:r>
              <a:rPr lang="en-US" sz="2000" i="1" dirty="0">
                <a:solidFill>
                  <a:schemeClr val="accent2">
                    <a:lumMod val="50000"/>
                  </a:schemeClr>
                </a:solidFill>
                <a:latin typeface="Calibri" pitchFamily="34" charset="0"/>
                <a:cs typeface="Calibri" pitchFamily="34" charset="0"/>
              </a:rPr>
              <a:t>et al.</a:t>
            </a:r>
            <a:r>
              <a:rPr lang="en-US" sz="2000" dirty="0">
                <a:solidFill>
                  <a:schemeClr val="accent2">
                    <a:lumMod val="50000"/>
                  </a:schemeClr>
                </a:solidFill>
                <a:latin typeface="Calibri" pitchFamily="34" charset="0"/>
                <a:cs typeface="Calibri" pitchFamily="34" charset="0"/>
              </a:rPr>
              <a:t>, </a:t>
            </a:r>
            <a:r>
              <a:rPr lang="en-US" sz="2000" dirty="0" smtClean="0">
                <a:solidFill>
                  <a:schemeClr val="accent2">
                    <a:lumMod val="50000"/>
                  </a:schemeClr>
                </a:solidFill>
                <a:latin typeface="Calibri" pitchFamily="34" charset="0"/>
                <a:cs typeface="Calibri" pitchFamily="34" charset="0"/>
              </a:rPr>
              <a:t>2004. </a:t>
            </a:r>
          </a:p>
          <a:p>
            <a:pPr lvl="1"/>
            <a:r>
              <a:rPr lang="en-US" sz="2000" dirty="0" smtClean="0">
                <a:solidFill>
                  <a:schemeClr val="accent2">
                    <a:lumMod val="50000"/>
                  </a:schemeClr>
                </a:solidFill>
                <a:latin typeface="Calibri" pitchFamily="34" charset="0"/>
                <a:cs typeface="Calibri" pitchFamily="34" charset="0"/>
              </a:rPr>
              <a:t>*  Antes </a:t>
            </a:r>
            <a:r>
              <a:rPr lang="en-US" sz="2000" i="1" dirty="0">
                <a:solidFill>
                  <a:schemeClr val="accent2">
                    <a:lumMod val="50000"/>
                  </a:schemeClr>
                </a:solidFill>
                <a:latin typeface="Calibri" pitchFamily="34" charset="0"/>
                <a:cs typeface="Calibri" pitchFamily="34" charset="0"/>
              </a:rPr>
              <a:t>et al.</a:t>
            </a:r>
            <a:r>
              <a:rPr lang="en-US" sz="2000" dirty="0">
                <a:solidFill>
                  <a:schemeClr val="accent2">
                    <a:lumMod val="50000"/>
                  </a:schemeClr>
                </a:solidFill>
                <a:latin typeface="Calibri" pitchFamily="34" charset="0"/>
                <a:cs typeface="Calibri" pitchFamily="34" charset="0"/>
              </a:rPr>
              <a:t>, 2004. </a:t>
            </a:r>
            <a:endParaRPr lang="en-US" sz="2000" dirty="0" smtClean="0">
              <a:solidFill>
                <a:schemeClr val="accent2">
                  <a:lumMod val="50000"/>
                </a:schemeClr>
              </a:solidFill>
              <a:latin typeface="Calibri" pitchFamily="34" charset="0"/>
              <a:cs typeface="Calibri" pitchFamily="34" charset="0"/>
            </a:endParaRPr>
          </a:p>
          <a:p>
            <a:pPr lvl="1"/>
            <a:r>
              <a:rPr lang="en-US" sz="2000" dirty="0" smtClean="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Bordner</a:t>
            </a:r>
            <a:r>
              <a:rPr lang="en-US" sz="2000" dirty="0" smtClean="0">
                <a:solidFill>
                  <a:schemeClr val="accent2">
                    <a:lumMod val="50000"/>
                  </a:schemeClr>
                </a:solidFill>
                <a:latin typeface="Calibri" pitchFamily="34" charset="0"/>
                <a:cs typeface="Calibri" pitchFamily="34" charset="0"/>
              </a:rPr>
              <a:t> </a:t>
            </a:r>
            <a:r>
              <a:rPr lang="en-US" sz="2000" i="1" dirty="0" smtClean="0">
                <a:solidFill>
                  <a:schemeClr val="accent2">
                    <a:lumMod val="50000"/>
                  </a:schemeClr>
                </a:solidFill>
                <a:latin typeface="Calibri" pitchFamily="34" charset="0"/>
                <a:cs typeface="Calibri" pitchFamily="34" charset="0"/>
              </a:rPr>
              <a:t>et al.</a:t>
            </a:r>
            <a:r>
              <a:rPr lang="en-US" sz="2000" dirty="0" smtClean="0">
                <a:solidFill>
                  <a:schemeClr val="accent2">
                    <a:lumMod val="50000"/>
                  </a:schemeClr>
                </a:solidFill>
                <a:latin typeface="Calibri" pitchFamily="34" charset="0"/>
                <a:cs typeface="Calibri" pitchFamily="34" charset="0"/>
              </a:rPr>
              <a:t>, 2006.</a:t>
            </a:r>
          </a:p>
          <a:p>
            <a:pPr lvl="1"/>
            <a:r>
              <a:rPr lang="en-US" sz="2000" dirty="0" smtClean="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Todman</a:t>
            </a:r>
            <a:r>
              <a:rPr lang="en-US" sz="2000" dirty="0" smtClean="0">
                <a:solidFill>
                  <a:schemeClr val="accent2">
                    <a:lumMod val="50000"/>
                  </a:schemeClr>
                </a:solidFill>
                <a:latin typeface="Calibri" pitchFamily="34" charset="0"/>
                <a:cs typeface="Calibri" pitchFamily="34" charset="0"/>
              </a:rPr>
              <a:t> </a:t>
            </a:r>
            <a:r>
              <a:rPr lang="en-US" sz="2000" i="1" dirty="0">
                <a:solidFill>
                  <a:schemeClr val="accent2">
                    <a:lumMod val="50000"/>
                  </a:schemeClr>
                </a:solidFill>
                <a:latin typeface="Calibri" pitchFamily="34" charset="0"/>
                <a:cs typeface="Calibri" pitchFamily="34" charset="0"/>
              </a:rPr>
              <a:t>et al.</a:t>
            </a:r>
            <a:r>
              <a:rPr lang="en-US" sz="2000" dirty="0">
                <a:solidFill>
                  <a:schemeClr val="accent2">
                    <a:lumMod val="50000"/>
                  </a:schemeClr>
                </a:solidFill>
                <a:latin typeface="Calibri" pitchFamily="34" charset="0"/>
                <a:cs typeface="Calibri" pitchFamily="34" charset="0"/>
              </a:rPr>
              <a:t>, </a:t>
            </a:r>
            <a:r>
              <a:rPr lang="en-US" sz="2000" dirty="0" smtClean="0">
                <a:solidFill>
                  <a:schemeClr val="accent2">
                    <a:lumMod val="50000"/>
                  </a:schemeClr>
                </a:solidFill>
                <a:latin typeface="Calibri" pitchFamily="34" charset="0"/>
                <a:cs typeface="Calibri" pitchFamily="34" charset="0"/>
              </a:rPr>
              <a:t>2007.</a:t>
            </a:r>
          </a:p>
          <a:p>
            <a:pPr lvl="1"/>
            <a:r>
              <a:rPr lang="en-US" sz="2000" dirty="0" smtClean="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Antunes</a:t>
            </a:r>
            <a:r>
              <a:rPr lang="en-US" sz="2000" dirty="0" smtClean="0">
                <a:solidFill>
                  <a:schemeClr val="accent2">
                    <a:lumMod val="50000"/>
                  </a:schemeClr>
                </a:solidFill>
                <a:latin typeface="Calibri" pitchFamily="34" charset="0"/>
                <a:cs typeface="Calibri" pitchFamily="34" charset="0"/>
              </a:rPr>
              <a:t> </a:t>
            </a:r>
            <a:r>
              <a:rPr lang="en-US" sz="2000" i="1" dirty="0">
                <a:solidFill>
                  <a:schemeClr val="accent2">
                    <a:lumMod val="50000"/>
                  </a:schemeClr>
                </a:solidFill>
                <a:latin typeface="Calibri" pitchFamily="34" charset="0"/>
                <a:cs typeface="Calibri" pitchFamily="34" charset="0"/>
              </a:rPr>
              <a:t>et al.</a:t>
            </a:r>
            <a:r>
              <a:rPr lang="en-US" sz="2000" dirty="0">
                <a:solidFill>
                  <a:schemeClr val="accent2">
                    <a:lumMod val="50000"/>
                  </a:schemeClr>
                </a:solidFill>
                <a:latin typeface="Calibri" pitchFamily="34" charset="0"/>
                <a:cs typeface="Calibri" pitchFamily="34" charset="0"/>
              </a:rPr>
              <a:t>, </a:t>
            </a:r>
            <a:r>
              <a:rPr lang="en-US" sz="2000" dirty="0" smtClean="0">
                <a:solidFill>
                  <a:schemeClr val="accent2">
                    <a:lumMod val="50000"/>
                  </a:schemeClr>
                </a:solidFill>
                <a:latin typeface="Calibri" pitchFamily="34" charset="0"/>
                <a:cs typeface="Calibri" pitchFamily="34" charset="0"/>
              </a:rPr>
              <a:t>2010.</a:t>
            </a:r>
          </a:p>
          <a:p>
            <a:pPr lvl="1"/>
            <a:r>
              <a:rPr lang="en-US" sz="2000" dirty="0" smtClean="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Bordner</a:t>
            </a:r>
            <a:r>
              <a:rPr lang="en-US" sz="2000" dirty="0" smtClean="0">
                <a:solidFill>
                  <a:schemeClr val="accent2">
                    <a:lumMod val="50000"/>
                  </a:schemeClr>
                </a:solidFill>
                <a:latin typeface="Calibri" pitchFamily="34" charset="0"/>
                <a:cs typeface="Calibri" pitchFamily="34" charset="0"/>
              </a:rPr>
              <a:t> </a:t>
            </a:r>
            <a:r>
              <a:rPr lang="en-US" sz="2000" i="1" dirty="0">
                <a:solidFill>
                  <a:schemeClr val="accent2">
                    <a:lumMod val="50000"/>
                  </a:schemeClr>
                </a:solidFill>
                <a:latin typeface="Calibri" pitchFamily="34" charset="0"/>
                <a:cs typeface="Calibri" pitchFamily="34" charset="0"/>
              </a:rPr>
              <a:t>et al.</a:t>
            </a:r>
            <a:r>
              <a:rPr lang="en-US" sz="2000" dirty="0">
                <a:solidFill>
                  <a:schemeClr val="accent2">
                    <a:lumMod val="50000"/>
                  </a:schemeClr>
                </a:solidFill>
                <a:latin typeface="Calibri" pitchFamily="34" charset="0"/>
                <a:cs typeface="Calibri" pitchFamily="34" charset="0"/>
              </a:rPr>
              <a:t>, </a:t>
            </a:r>
            <a:r>
              <a:rPr lang="en-US" sz="2000" dirty="0" smtClean="0">
                <a:solidFill>
                  <a:schemeClr val="accent2">
                    <a:lumMod val="50000"/>
                  </a:schemeClr>
                </a:solidFill>
                <a:latin typeface="Calibri" pitchFamily="34" charset="0"/>
                <a:cs typeface="Calibri" pitchFamily="34" charset="0"/>
              </a:rPr>
              <a:t>2010.</a:t>
            </a:r>
          </a:p>
          <a:p>
            <a:pPr lvl="1"/>
            <a:r>
              <a:rPr lang="en-US" sz="2000" dirty="0" smtClean="0">
                <a:solidFill>
                  <a:schemeClr val="accent2">
                    <a:lumMod val="50000"/>
                  </a:schemeClr>
                </a:solidFill>
                <a:latin typeface="Calibri" pitchFamily="34" charset="0"/>
                <a:cs typeface="Calibri" pitchFamily="34" charset="0"/>
              </a:rPr>
              <a:t>*  Khan </a:t>
            </a:r>
            <a:r>
              <a:rPr lang="en-US" sz="2000" i="1" dirty="0" smtClean="0">
                <a:solidFill>
                  <a:schemeClr val="accent2">
                    <a:lumMod val="50000"/>
                  </a:schemeClr>
                </a:solidFill>
                <a:latin typeface="Calibri" pitchFamily="34" charset="0"/>
                <a:cs typeface="Calibri" pitchFamily="34" charset="0"/>
              </a:rPr>
              <a:t>et </a:t>
            </a:r>
            <a:r>
              <a:rPr lang="en-US" sz="2000" i="1" dirty="0">
                <a:solidFill>
                  <a:schemeClr val="accent2">
                    <a:lumMod val="50000"/>
                  </a:schemeClr>
                </a:solidFill>
                <a:latin typeface="Calibri" pitchFamily="34" charset="0"/>
                <a:cs typeface="Calibri" pitchFamily="34" charset="0"/>
              </a:rPr>
              <a:t>al.</a:t>
            </a:r>
            <a:r>
              <a:rPr lang="en-US" sz="2000" dirty="0">
                <a:solidFill>
                  <a:schemeClr val="accent2">
                    <a:lumMod val="50000"/>
                  </a:schemeClr>
                </a:solidFill>
                <a:latin typeface="Calibri" pitchFamily="34" charset="0"/>
                <a:cs typeface="Calibri" pitchFamily="34" charset="0"/>
              </a:rPr>
              <a:t>, 2010</a:t>
            </a:r>
            <a:r>
              <a:rPr lang="en-US" sz="2000" dirty="0" smtClean="0">
                <a:solidFill>
                  <a:schemeClr val="accent2">
                    <a:lumMod val="50000"/>
                  </a:schemeClr>
                </a:solidFill>
                <a:latin typeface="Calibri" pitchFamily="34" charset="0"/>
                <a:cs typeface="Calibri" pitchFamily="34" charset="0"/>
              </a:rPr>
              <a:t>.</a:t>
            </a:r>
          </a:p>
          <a:p>
            <a:pPr lvl="1"/>
            <a:r>
              <a:rPr lang="en-US" sz="2000" dirty="0" smtClean="0">
                <a:solidFill>
                  <a:schemeClr val="accent2">
                    <a:lumMod val="50000"/>
                  </a:schemeClr>
                </a:solidFill>
                <a:latin typeface="Calibri" pitchFamily="34" charset="0"/>
                <a:cs typeface="Calibri" pitchFamily="34" charset="0"/>
              </a:rPr>
              <a:t>*  Liu </a:t>
            </a:r>
            <a:r>
              <a:rPr lang="en-US" sz="2000" i="1" dirty="0">
                <a:solidFill>
                  <a:schemeClr val="accent2">
                    <a:lumMod val="50000"/>
                  </a:schemeClr>
                </a:solidFill>
                <a:latin typeface="Calibri" pitchFamily="34" charset="0"/>
                <a:cs typeface="Calibri" pitchFamily="34" charset="0"/>
              </a:rPr>
              <a:t>et al.</a:t>
            </a:r>
            <a:r>
              <a:rPr lang="en-US" sz="2000" dirty="0">
                <a:solidFill>
                  <a:schemeClr val="accent2">
                    <a:lumMod val="50000"/>
                  </a:schemeClr>
                </a:solidFill>
                <a:latin typeface="Calibri" pitchFamily="34" charset="0"/>
                <a:cs typeface="Calibri" pitchFamily="34" charset="0"/>
              </a:rPr>
              <a:t>, </a:t>
            </a:r>
            <a:r>
              <a:rPr lang="en-US" sz="2000" dirty="0" smtClean="0">
                <a:solidFill>
                  <a:schemeClr val="accent2">
                    <a:lumMod val="50000"/>
                  </a:schemeClr>
                </a:solidFill>
                <a:latin typeface="Calibri" pitchFamily="34" charset="0"/>
                <a:cs typeface="Calibri" pitchFamily="34" charset="0"/>
              </a:rPr>
              <a:t>2014.</a:t>
            </a:r>
          </a:p>
          <a:p>
            <a:pPr lvl="1"/>
            <a:r>
              <a:rPr lang="en-US" sz="2000" dirty="0" smtClean="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Rigo</a:t>
            </a:r>
            <a:r>
              <a:rPr lang="en-US" sz="2000" dirty="0" smtClean="0">
                <a:solidFill>
                  <a:schemeClr val="accent2">
                    <a:lumMod val="50000"/>
                  </a:schemeClr>
                </a:solidFill>
                <a:latin typeface="Calibri" pitchFamily="34" charset="0"/>
                <a:cs typeface="Calibri" pitchFamily="34" charset="0"/>
              </a:rPr>
              <a:t> </a:t>
            </a:r>
            <a:r>
              <a:rPr lang="en-US" sz="2000" i="1" dirty="0" smtClean="0">
                <a:solidFill>
                  <a:schemeClr val="accent2">
                    <a:lumMod val="50000"/>
                  </a:schemeClr>
                </a:solidFill>
                <a:latin typeface="Calibri" pitchFamily="34" charset="0"/>
                <a:cs typeface="Calibri" pitchFamily="34" charset="0"/>
              </a:rPr>
              <a:t>et </a:t>
            </a:r>
            <a:r>
              <a:rPr lang="en-US" sz="2000" i="1" dirty="0">
                <a:solidFill>
                  <a:schemeClr val="accent2">
                    <a:lumMod val="50000"/>
                  </a:schemeClr>
                </a:solidFill>
                <a:latin typeface="Calibri" pitchFamily="34" charset="0"/>
                <a:cs typeface="Calibri" pitchFamily="34" charset="0"/>
              </a:rPr>
              <a:t>al.</a:t>
            </a:r>
            <a:r>
              <a:rPr lang="en-US" sz="2000" dirty="0">
                <a:solidFill>
                  <a:schemeClr val="accent2">
                    <a:lumMod val="50000"/>
                  </a:schemeClr>
                </a:solidFill>
                <a:latin typeface="Calibri" pitchFamily="34" charset="0"/>
                <a:cs typeface="Calibri" pitchFamily="34" charset="0"/>
              </a:rPr>
              <a:t>, </a:t>
            </a:r>
            <a:r>
              <a:rPr lang="en-US" sz="2000" dirty="0" smtClean="0">
                <a:solidFill>
                  <a:schemeClr val="accent2">
                    <a:lumMod val="50000"/>
                  </a:schemeClr>
                </a:solidFill>
                <a:latin typeface="Calibri" pitchFamily="34" charset="0"/>
                <a:cs typeface="Calibri" pitchFamily="34" charset="0"/>
              </a:rPr>
              <a:t>2015.</a:t>
            </a:r>
            <a:endParaRPr lang="en-US" sz="2000" dirty="0">
              <a:solidFill>
                <a:schemeClr val="accent2">
                  <a:lumMod val="50000"/>
                </a:schemeClr>
              </a:solidFill>
              <a:latin typeface="Calibri" pitchFamily="34" charset="0"/>
              <a:cs typeface="Calibri" pitchFamily="34" charset="0"/>
            </a:endParaRPr>
          </a:p>
        </p:txBody>
      </p:sp>
      <p:sp>
        <p:nvSpPr>
          <p:cNvPr id="9" name="TextBox 8"/>
          <p:cNvSpPr txBox="1"/>
          <p:nvPr/>
        </p:nvSpPr>
        <p:spPr>
          <a:xfrm>
            <a:off x="3635897" y="839852"/>
            <a:ext cx="5400599" cy="2862322"/>
          </a:xfrm>
          <a:prstGeom prst="rect">
            <a:avLst/>
          </a:prstGeom>
          <a:noFill/>
        </p:spPr>
        <p:txBody>
          <a:bodyPr wrap="square" rtlCol="0">
            <a:spAutoFit/>
          </a:bodyPr>
          <a:lstStyle/>
          <a:p>
            <a:pPr lvl="1"/>
            <a:r>
              <a:rPr lang="en-US" sz="2000" dirty="0" smtClean="0">
                <a:solidFill>
                  <a:schemeClr val="accent2">
                    <a:lumMod val="50000"/>
                  </a:schemeClr>
                </a:solidFill>
                <a:latin typeface="Calibri" pitchFamily="34" charset="0"/>
                <a:cs typeface="Calibri" pitchFamily="34" charset="0"/>
              </a:rPr>
              <a:t>ICM + loop closure</a:t>
            </a:r>
          </a:p>
          <a:p>
            <a:pPr lvl="1"/>
            <a:r>
              <a:rPr lang="en-US" sz="2000" i="1" dirty="0" err="1" smtClean="0">
                <a:solidFill>
                  <a:schemeClr val="accent2">
                    <a:lumMod val="50000"/>
                  </a:schemeClr>
                </a:solidFill>
                <a:latin typeface="Calibri" pitchFamily="34" charset="0"/>
                <a:cs typeface="Calibri" pitchFamily="34" charset="0"/>
              </a:rPr>
              <a:t>DynaPred</a:t>
            </a:r>
            <a:endParaRPr lang="en-US" sz="2000" i="1" dirty="0" smtClean="0">
              <a:solidFill>
                <a:schemeClr val="accent2">
                  <a:lumMod val="50000"/>
                </a:schemeClr>
              </a:solidFill>
              <a:latin typeface="Calibri" pitchFamily="34" charset="0"/>
              <a:cs typeface="Calibri" pitchFamily="34" charset="0"/>
            </a:endParaRPr>
          </a:p>
          <a:p>
            <a:pPr lvl="1"/>
            <a:r>
              <a:rPr lang="en-US" sz="2000" dirty="0" smtClean="0">
                <a:solidFill>
                  <a:schemeClr val="accent2">
                    <a:lumMod val="50000"/>
                  </a:schemeClr>
                </a:solidFill>
                <a:latin typeface="Calibri" pitchFamily="34" charset="0"/>
                <a:cs typeface="Calibri" pitchFamily="34" charset="0"/>
              </a:rPr>
              <a:t>ICM + </a:t>
            </a:r>
            <a:r>
              <a:rPr lang="en-US" sz="2000" dirty="0" err="1" smtClean="0">
                <a:solidFill>
                  <a:schemeClr val="accent2">
                    <a:lumMod val="50000"/>
                  </a:schemeClr>
                </a:solidFill>
                <a:latin typeface="Calibri" pitchFamily="34" charset="0"/>
                <a:cs typeface="Calibri" pitchFamily="34" charset="0"/>
              </a:rPr>
              <a:t>monte</a:t>
            </a:r>
            <a:r>
              <a:rPr lang="en-US" sz="2000" dirty="0" smtClean="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carlo</a:t>
            </a:r>
            <a:endParaRPr lang="en-US" sz="2000" dirty="0" smtClean="0">
              <a:solidFill>
                <a:schemeClr val="accent2">
                  <a:lumMod val="50000"/>
                </a:schemeClr>
              </a:solidFill>
              <a:latin typeface="Calibri" pitchFamily="34" charset="0"/>
              <a:cs typeface="Calibri" pitchFamily="34" charset="0"/>
            </a:endParaRPr>
          </a:p>
          <a:p>
            <a:pPr lvl="1"/>
            <a:r>
              <a:rPr lang="en-US" sz="2000" i="1" dirty="0" err="1" smtClean="0">
                <a:solidFill>
                  <a:schemeClr val="accent2">
                    <a:lumMod val="50000"/>
                  </a:schemeClr>
                </a:solidFill>
                <a:latin typeface="Calibri" pitchFamily="34" charset="0"/>
                <a:cs typeface="Calibri" pitchFamily="34" charset="0"/>
              </a:rPr>
              <a:t>MHCSim</a:t>
            </a:r>
            <a:r>
              <a:rPr lang="en-US" sz="2000" i="1" dirty="0" smtClean="0">
                <a:solidFill>
                  <a:schemeClr val="accent2">
                    <a:lumMod val="50000"/>
                  </a:schemeClr>
                </a:solidFill>
                <a:latin typeface="Calibri" pitchFamily="34" charset="0"/>
                <a:cs typeface="Calibri" pitchFamily="34" charset="0"/>
              </a:rPr>
              <a:t> </a:t>
            </a:r>
            <a:r>
              <a:rPr lang="en-US" sz="2000" dirty="0">
                <a:solidFill>
                  <a:schemeClr val="accent2">
                    <a:lumMod val="50000"/>
                  </a:schemeClr>
                </a:solidFill>
                <a:latin typeface="Calibri" pitchFamily="34" charset="0"/>
                <a:cs typeface="Calibri" pitchFamily="34" charset="0"/>
              </a:rPr>
              <a:t>(</a:t>
            </a:r>
            <a:r>
              <a:rPr lang="en-US" sz="2000" i="1" dirty="0">
                <a:solidFill>
                  <a:schemeClr val="accent2">
                    <a:lumMod val="50000"/>
                  </a:schemeClr>
                </a:solidFill>
                <a:latin typeface="Calibri" pitchFamily="34" charset="0"/>
                <a:cs typeface="Calibri" pitchFamily="34" charset="0"/>
              </a:rPr>
              <a:t>crystal template</a:t>
            </a:r>
            <a:r>
              <a:rPr lang="en-US" sz="2000" dirty="0">
                <a:solidFill>
                  <a:schemeClr val="accent2">
                    <a:lumMod val="50000"/>
                  </a:schemeClr>
                </a:solidFill>
                <a:latin typeface="Calibri" pitchFamily="34" charset="0"/>
                <a:cs typeface="Calibri" pitchFamily="34" charset="0"/>
              </a:rPr>
              <a:t>)</a:t>
            </a:r>
            <a:endParaRPr lang="en-US" sz="2000" i="1" dirty="0" smtClean="0">
              <a:solidFill>
                <a:schemeClr val="accent2">
                  <a:lumMod val="50000"/>
                </a:schemeClr>
              </a:solidFill>
              <a:latin typeface="Calibri" pitchFamily="34" charset="0"/>
              <a:cs typeface="Calibri" pitchFamily="34" charset="0"/>
            </a:endParaRPr>
          </a:p>
          <a:p>
            <a:pPr lvl="1"/>
            <a:r>
              <a:rPr lang="en-US" sz="2000" i="1" dirty="0" smtClean="0">
                <a:solidFill>
                  <a:schemeClr val="accent2">
                    <a:lumMod val="50000"/>
                  </a:schemeClr>
                </a:solidFill>
                <a:latin typeface="Calibri" pitchFamily="34" charset="0"/>
                <a:cs typeface="Calibri" pitchFamily="34" charset="0"/>
              </a:rPr>
              <a:t>D1-EM-D2 </a:t>
            </a:r>
            <a:r>
              <a:rPr lang="en-US" sz="2000" dirty="0">
                <a:solidFill>
                  <a:schemeClr val="accent2">
                    <a:lumMod val="50000"/>
                  </a:schemeClr>
                </a:solidFill>
                <a:latin typeface="Calibri" pitchFamily="34" charset="0"/>
                <a:cs typeface="Calibri" pitchFamily="34" charset="0"/>
              </a:rPr>
              <a:t>(</a:t>
            </a:r>
            <a:r>
              <a:rPr lang="en-US" sz="2000" i="1" dirty="0">
                <a:solidFill>
                  <a:schemeClr val="accent2">
                    <a:lumMod val="50000"/>
                  </a:schemeClr>
                </a:solidFill>
                <a:latin typeface="Calibri" pitchFamily="34" charset="0"/>
                <a:cs typeface="Calibri" pitchFamily="34" charset="0"/>
              </a:rPr>
              <a:t>crystal template</a:t>
            </a:r>
            <a:r>
              <a:rPr lang="en-US" sz="2000" dirty="0">
                <a:solidFill>
                  <a:schemeClr val="accent2">
                    <a:lumMod val="50000"/>
                  </a:schemeClr>
                </a:solidFill>
                <a:latin typeface="Calibri" pitchFamily="34" charset="0"/>
                <a:cs typeface="Calibri" pitchFamily="34" charset="0"/>
              </a:rPr>
              <a:t>)</a:t>
            </a:r>
            <a:endParaRPr lang="en-US" sz="2000" i="1" dirty="0" smtClean="0">
              <a:solidFill>
                <a:schemeClr val="accent2">
                  <a:lumMod val="50000"/>
                </a:schemeClr>
              </a:solidFill>
              <a:latin typeface="Calibri" pitchFamily="34" charset="0"/>
              <a:cs typeface="Calibri" pitchFamily="34" charset="0"/>
            </a:endParaRPr>
          </a:p>
          <a:p>
            <a:pPr lvl="1"/>
            <a:r>
              <a:rPr lang="en-US" sz="2000" dirty="0" smtClean="0">
                <a:solidFill>
                  <a:schemeClr val="accent2">
                    <a:lumMod val="50000"/>
                  </a:schemeClr>
                </a:solidFill>
                <a:latin typeface="Calibri" pitchFamily="34" charset="0"/>
                <a:cs typeface="Calibri" pitchFamily="34" charset="0"/>
              </a:rPr>
              <a:t>ICM </a:t>
            </a:r>
            <a:r>
              <a:rPr lang="en-US" sz="2000" dirty="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monte</a:t>
            </a:r>
            <a:r>
              <a:rPr lang="en-US" sz="2000" dirty="0" smtClean="0">
                <a:solidFill>
                  <a:schemeClr val="accent2">
                    <a:lumMod val="50000"/>
                  </a:schemeClr>
                </a:solidFill>
                <a:latin typeface="Calibri" pitchFamily="34" charset="0"/>
                <a:cs typeface="Calibri" pitchFamily="34" charset="0"/>
              </a:rPr>
              <a:t> </a:t>
            </a:r>
            <a:r>
              <a:rPr lang="en-US" sz="2000" dirty="0" err="1" smtClean="0">
                <a:solidFill>
                  <a:schemeClr val="accent2">
                    <a:lumMod val="50000"/>
                  </a:schemeClr>
                </a:solidFill>
                <a:latin typeface="Calibri" pitchFamily="34" charset="0"/>
                <a:cs typeface="Calibri" pitchFamily="34" charset="0"/>
              </a:rPr>
              <a:t>carlo</a:t>
            </a:r>
            <a:r>
              <a:rPr lang="en-US" sz="2000" dirty="0" smtClean="0">
                <a:solidFill>
                  <a:schemeClr val="accent2">
                    <a:lumMod val="50000"/>
                  </a:schemeClr>
                </a:solidFill>
                <a:latin typeface="Calibri" pitchFamily="34" charset="0"/>
                <a:cs typeface="Calibri" pitchFamily="34" charset="0"/>
              </a:rPr>
              <a:t> + machine learning</a:t>
            </a:r>
          </a:p>
          <a:p>
            <a:pPr lvl="1"/>
            <a:r>
              <a:rPr lang="en-US" sz="2000" dirty="0" smtClean="0">
                <a:solidFill>
                  <a:schemeClr val="accent2">
                    <a:lumMod val="50000"/>
                  </a:schemeClr>
                </a:solidFill>
                <a:latin typeface="Calibri" pitchFamily="34" charset="0"/>
                <a:cs typeface="Calibri" pitchFamily="34" charset="0"/>
              </a:rPr>
              <a:t>ICM </a:t>
            </a:r>
            <a:r>
              <a:rPr lang="en-US" sz="2000" dirty="0">
                <a:solidFill>
                  <a:schemeClr val="accent2">
                    <a:lumMod val="50000"/>
                  </a:schemeClr>
                </a:solidFill>
                <a:latin typeface="Calibri" pitchFamily="34" charset="0"/>
                <a:cs typeface="Calibri" pitchFamily="34" charset="0"/>
              </a:rPr>
              <a:t>+ </a:t>
            </a:r>
            <a:r>
              <a:rPr lang="en-US" sz="2000" dirty="0" err="1">
                <a:solidFill>
                  <a:schemeClr val="accent2">
                    <a:lumMod val="50000"/>
                  </a:schemeClr>
                </a:solidFill>
                <a:latin typeface="Calibri" pitchFamily="34" charset="0"/>
                <a:cs typeface="Calibri" pitchFamily="34" charset="0"/>
              </a:rPr>
              <a:t>monte</a:t>
            </a:r>
            <a:r>
              <a:rPr lang="en-US" sz="2000" dirty="0">
                <a:solidFill>
                  <a:schemeClr val="accent2">
                    <a:lumMod val="50000"/>
                  </a:schemeClr>
                </a:solidFill>
                <a:latin typeface="Calibri" pitchFamily="34" charset="0"/>
                <a:cs typeface="Calibri" pitchFamily="34" charset="0"/>
              </a:rPr>
              <a:t> </a:t>
            </a:r>
            <a:r>
              <a:rPr lang="en-US" sz="2000" dirty="0" err="1">
                <a:solidFill>
                  <a:schemeClr val="accent2">
                    <a:lumMod val="50000"/>
                  </a:schemeClr>
                </a:solidFill>
                <a:latin typeface="Calibri" pitchFamily="34" charset="0"/>
                <a:cs typeface="Calibri" pitchFamily="34" charset="0"/>
              </a:rPr>
              <a:t>carlo</a:t>
            </a:r>
            <a:r>
              <a:rPr lang="en-US" sz="2000" dirty="0">
                <a:solidFill>
                  <a:schemeClr val="accent2">
                    <a:lumMod val="50000"/>
                  </a:schemeClr>
                </a:solidFill>
                <a:latin typeface="Calibri" pitchFamily="34" charset="0"/>
                <a:cs typeface="Calibri" pitchFamily="34" charset="0"/>
              </a:rPr>
              <a:t> + </a:t>
            </a:r>
            <a:r>
              <a:rPr lang="en-US" sz="2000" dirty="0" smtClean="0">
                <a:solidFill>
                  <a:schemeClr val="accent2">
                    <a:lumMod val="50000"/>
                  </a:schemeClr>
                </a:solidFill>
                <a:latin typeface="Calibri" pitchFamily="34" charset="0"/>
                <a:cs typeface="Calibri" pitchFamily="34" charset="0"/>
              </a:rPr>
              <a:t>homology modeling</a:t>
            </a:r>
            <a:endParaRPr lang="en-US" sz="2000" dirty="0">
              <a:solidFill>
                <a:schemeClr val="accent2">
                  <a:lumMod val="50000"/>
                </a:schemeClr>
              </a:solidFill>
              <a:latin typeface="Calibri" pitchFamily="34" charset="0"/>
              <a:cs typeface="Calibri" pitchFamily="34" charset="0"/>
            </a:endParaRPr>
          </a:p>
          <a:p>
            <a:pPr lvl="1"/>
            <a:r>
              <a:rPr lang="en-US" sz="2000" i="1" dirty="0" err="1" smtClean="0">
                <a:solidFill>
                  <a:schemeClr val="accent2">
                    <a:lumMod val="50000"/>
                  </a:schemeClr>
                </a:solidFill>
                <a:latin typeface="Calibri" pitchFamily="34" charset="0"/>
                <a:cs typeface="Calibri" pitchFamily="34" charset="0"/>
              </a:rPr>
              <a:t>FlexPepDock</a:t>
            </a:r>
            <a:r>
              <a:rPr lang="en-US" sz="2000" i="1" dirty="0" smtClean="0">
                <a:solidFill>
                  <a:schemeClr val="accent2">
                    <a:lumMod val="50000"/>
                  </a:schemeClr>
                </a:solidFill>
                <a:latin typeface="Calibri" pitchFamily="34" charset="0"/>
                <a:cs typeface="Calibri" pitchFamily="34" charset="0"/>
              </a:rPr>
              <a:t> </a:t>
            </a:r>
            <a:r>
              <a:rPr lang="en-US" sz="2000" dirty="0" smtClean="0">
                <a:solidFill>
                  <a:schemeClr val="accent2">
                    <a:lumMod val="50000"/>
                  </a:schemeClr>
                </a:solidFill>
                <a:latin typeface="Calibri" pitchFamily="34" charset="0"/>
                <a:cs typeface="Calibri" pitchFamily="34" charset="0"/>
              </a:rPr>
              <a:t>(</a:t>
            </a:r>
            <a:r>
              <a:rPr lang="en-US" sz="2000" i="1" dirty="0" smtClean="0">
                <a:solidFill>
                  <a:schemeClr val="accent2">
                    <a:lumMod val="50000"/>
                  </a:schemeClr>
                </a:solidFill>
                <a:latin typeface="Calibri" pitchFamily="34" charset="0"/>
                <a:cs typeface="Calibri" pitchFamily="34" charset="0"/>
              </a:rPr>
              <a:t>crystal template</a:t>
            </a:r>
            <a:r>
              <a:rPr lang="en-US" sz="2000" dirty="0" smtClean="0">
                <a:solidFill>
                  <a:schemeClr val="accent2">
                    <a:lumMod val="50000"/>
                  </a:schemeClr>
                </a:solidFill>
                <a:latin typeface="Calibri" pitchFamily="34" charset="0"/>
                <a:cs typeface="Calibri" pitchFamily="34" charset="0"/>
              </a:rPr>
              <a:t>)</a:t>
            </a:r>
          </a:p>
          <a:p>
            <a:pPr lvl="1"/>
            <a:r>
              <a:rPr lang="en-US" sz="2000" i="1" dirty="0" err="1" smtClean="0">
                <a:solidFill>
                  <a:schemeClr val="accent2">
                    <a:lumMod val="50000"/>
                  </a:schemeClr>
                </a:solidFill>
                <a:latin typeface="Calibri" pitchFamily="34" charset="0"/>
                <a:cs typeface="Calibri" pitchFamily="34" charset="0"/>
              </a:rPr>
              <a:t>DockTope</a:t>
            </a:r>
            <a:r>
              <a:rPr lang="en-US" sz="2000" i="1" dirty="0" smtClean="0">
                <a:solidFill>
                  <a:schemeClr val="accent2">
                    <a:lumMod val="50000"/>
                  </a:schemeClr>
                </a:solidFill>
                <a:latin typeface="Calibri" pitchFamily="34" charset="0"/>
                <a:cs typeface="Calibri" pitchFamily="34" charset="0"/>
              </a:rPr>
              <a:t> </a:t>
            </a:r>
            <a:r>
              <a:rPr lang="en-US" sz="2000" dirty="0">
                <a:solidFill>
                  <a:schemeClr val="accent2">
                    <a:lumMod val="50000"/>
                  </a:schemeClr>
                </a:solidFill>
                <a:latin typeface="Calibri" pitchFamily="34" charset="0"/>
                <a:cs typeface="Calibri" pitchFamily="34" charset="0"/>
              </a:rPr>
              <a:t>(</a:t>
            </a:r>
            <a:r>
              <a:rPr lang="en-US" sz="2000" i="1" dirty="0">
                <a:solidFill>
                  <a:schemeClr val="accent2">
                    <a:lumMod val="50000"/>
                  </a:schemeClr>
                </a:solidFill>
                <a:latin typeface="Calibri" pitchFamily="34" charset="0"/>
                <a:cs typeface="Calibri" pitchFamily="34" charset="0"/>
              </a:rPr>
              <a:t>crystal template</a:t>
            </a:r>
            <a:r>
              <a:rPr lang="en-US" sz="2000" dirty="0" smtClean="0">
                <a:solidFill>
                  <a:schemeClr val="accent2">
                    <a:lumMod val="50000"/>
                  </a:schemeClr>
                </a:solidFill>
                <a:latin typeface="Calibri" pitchFamily="34" charset="0"/>
                <a:cs typeface="Calibri" pitchFamily="34" charset="0"/>
              </a:rPr>
              <a:t>)</a:t>
            </a:r>
            <a:endParaRPr lang="en-US" sz="2000" dirty="0">
              <a:solidFill>
                <a:schemeClr val="accent2">
                  <a:lumMod val="50000"/>
                </a:schemeClr>
              </a:solidFill>
              <a:latin typeface="Calibri" pitchFamily="34" charset="0"/>
              <a:cs typeface="Calibri" pitchFamily="34" charset="0"/>
            </a:endParaRPr>
          </a:p>
        </p:txBody>
      </p:sp>
      <p:sp>
        <p:nvSpPr>
          <p:cNvPr id="13" name="Título 2"/>
          <p:cNvSpPr txBox="1">
            <a:spLocks/>
          </p:cNvSpPr>
          <p:nvPr/>
        </p:nvSpPr>
        <p:spPr>
          <a:xfrm>
            <a:off x="5300458" y="4645585"/>
            <a:ext cx="2799934" cy="101566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endParaRPr lang="en-US" sz="3200" dirty="0" smtClean="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8" name="TextBox 7"/>
          <p:cNvSpPr txBox="1"/>
          <p:nvPr/>
        </p:nvSpPr>
        <p:spPr>
          <a:xfrm>
            <a:off x="5322900" y="4645585"/>
            <a:ext cx="2755050" cy="1015663"/>
          </a:xfrm>
          <a:prstGeom prst="rect">
            <a:avLst/>
          </a:prstGeom>
          <a:noFill/>
        </p:spPr>
        <p:txBody>
          <a:bodyPr wrap="none" rtlCol="0">
            <a:spAutoFit/>
          </a:bodyPr>
          <a:lstStyle/>
          <a:p>
            <a:pPr algn="ctr"/>
            <a:r>
              <a:rPr lang="en-US" sz="2000" b="1" dirty="0">
                <a:solidFill>
                  <a:schemeClr val="accent2">
                    <a:lumMod val="50000"/>
                  </a:schemeClr>
                </a:solidFill>
                <a:latin typeface="Calibri" pitchFamily="34" charset="0"/>
                <a:cs typeface="Calibri" pitchFamily="34" charset="0"/>
              </a:rPr>
              <a:t>Limited to specific HLAs </a:t>
            </a:r>
          </a:p>
          <a:p>
            <a:pPr algn="ctr"/>
            <a:r>
              <a:rPr lang="en-US" sz="2000" b="1" dirty="0">
                <a:solidFill>
                  <a:schemeClr val="accent2">
                    <a:lumMod val="50000"/>
                  </a:schemeClr>
                </a:solidFill>
                <a:latin typeface="Calibri" pitchFamily="34" charset="0"/>
                <a:cs typeface="Calibri" pitchFamily="34" charset="0"/>
              </a:rPr>
              <a:t>and </a:t>
            </a:r>
            <a:r>
              <a:rPr lang="en-US" sz="2000" b="1" dirty="0" smtClean="0">
                <a:solidFill>
                  <a:schemeClr val="accent2">
                    <a:lumMod val="50000"/>
                  </a:schemeClr>
                </a:solidFill>
                <a:latin typeface="Calibri" pitchFamily="34" charset="0"/>
                <a:cs typeface="Calibri" pitchFamily="34" charset="0"/>
              </a:rPr>
              <a:t>requiring expert</a:t>
            </a:r>
          </a:p>
          <a:p>
            <a:pPr algn="ctr"/>
            <a:r>
              <a:rPr lang="en-US" sz="2000" b="1" dirty="0" smtClean="0">
                <a:solidFill>
                  <a:schemeClr val="accent2">
                    <a:lumMod val="50000"/>
                  </a:schemeClr>
                </a:solidFill>
                <a:latin typeface="Calibri" pitchFamily="34" charset="0"/>
                <a:cs typeface="Calibri" pitchFamily="34" charset="0"/>
              </a:rPr>
              <a:t>guided constraints</a:t>
            </a:r>
            <a:endParaRPr lang="en-US" sz="2000" b="1" dirty="0">
              <a:solidFill>
                <a:schemeClr val="accent2">
                  <a:lumMod val="50000"/>
                </a:schemeClr>
              </a:solidFill>
              <a:latin typeface="Calibri" pitchFamily="34" charset="0"/>
              <a:cs typeface="Calibri" pitchFamily="34" charset="0"/>
            </a:endParaRPr>
          </a:p>
        </p:txBody>
      </p:sp>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smtClean="0">
                <a:solidFill>
                  <a:schemeClr val="accent2">
                    <a:lumMod val="50000"/>
                  </a:schemeClr>
                </a:solidFill>
                <a:latin typeface="Calibri" pitchFamily="34" charset="0"/>
                <a:cs typeface="Calibri" pitchFamily="34" charset="0"/>
              </a:rPr>
              <a:t>Docking-based prediction of </a:t>
            </a:r>
            <a:r>
              <a:rPr lang="en-US" sz="3200" dirty="0" err="1" smtClean="0">
                <a:solidFill>
                  <a:schemeClr val="accent2">
                    <a:lumMod val="50000"/>
                  </a:schemeClr>
                </a:solidFill>
                <a:latin typeface="Calibri" pitchFamily="34" charset="0"/>
                <a:cs typeface="Calibri" pitchFamily="34" charset="0"/>
              </a:rPr>
              <a:t>pHLA</a:t>
            </a:r>
            <a:r>
              <a:rPr lang="en-US" sz="3200" dirty="0" smtClean="0">
                <a:solidFill>
                  <a:schemeClr val="accent2">
                    <a:lumMod val="50000"/>
                  </a:schemeClr>
                </a:solidFill>
                <a:latin typeface="Calibri" pitchFamily="34" charset="0"/>
                <a:cs typeface="Calibri" pitchFamily="34" charset="0"/>
              </a:rPr>
              <a:t> complexes</a:t>
            </a:r>
            <a:endParaRPr lang="en-US" sz="3200" dirty="0" smtClean="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7" name="Right Brace 6"/>
          <p:cNvSpPr/>
          <p:nvPr/>
        </p:nvSpPr>
        <p:spPr>
          <a:xfrm>
            <a:off x="4796735" y="4705400"/>
            <a:ext cx="413812" cy="864096"/>
          </a:xfrm>
          <a:prstGeom prst="rightBrace">
            <a:avLst>
              <a:gd name="adj1" fmla="val 8333"/>
              <a:gd name="adj2" fmla="val 49176"/>
            </a:avLst>
          </a:prstGeom>
          <a:ln>
            <a:solidFill>
              <a:srgbClr val="A5291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1207268" y="4337809"/>
            <a:ext cx="3735298" cy="1323439"/>
          </a:xfrm>
          <a:prstGeom prst="rect">
            <a:avLst/>
          </a:prstGeom>
          <a:ln>
            <a:noFill/>
            <a:tailEnd type="arrow"/>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en-US" sz="2000" dirty="0" smtClean="0">
                <a:solidFill>
                  <a:schemeClr val="accent2">
                    <a:lumMod val="50000"/>
                  </a:schemeClr>
                </a:solidFill>
                <a:latin typeface="Calibri" pitchFamily="34" charset="0"/>
                <a:cs typeface="Calibri" pitchFamily="34" charset="0"/>
              </a:rPr>
              <a:t>Ways to reduce dimensionality:</a:t>
            </a:r>
          </a:p>
          <a:p>
            <a:pPr marL="285750" indent="-285750">
              <a:buFont typeface="Arial" panose="020B0604020202020204" pitchFamily="34" charset="0"/>
              <a:buChar char="•"/>
            </a:pPr>
            <a:r>
              <a:rPr lang="en-US" sz="2000" dirty="0" smtClean="0">
                <a:solidFill>
                  <a:schemeClr val="accent2">
                    <a:lumMod val="50000"/>
                  </a:schemeClr>
                </a:solidFill>
                <a:latin typeface="Calibri" pitchFamily="34" charset="0"/>
                <a:cs typeface="Calibri" pitchFamily="34" charset="0"/>
              </a:rPr>
              <a:t>Use of Ad hoc approaches</a:t>
            </a:r>
          </a:p>
          <a:p>
            <a:pPr marL="285750" indent="-285750">
              <a:buFont typeface="Arial" panose="020B0604020202020204" pitchFamily="34" charset="0"/>
              <a:buChar char="•"/>
            </a:pPr>
            <a:r>
              <a:rPr lang="en-US" sz="2000" dirty="0" smtClean="0">
                <a:solidFill>
                  <a:schemeClr val="accent2">
                    <a:lumMod val="50000"/>
                  </a:schemeClr>
                </a:solidFill>
                <a:latin typeface="Calibri" pitchFamily="34" charset="0"/>
                <a:cs typeface="Calibri" pitchFamily="34" charset="0"/>
              </a:rPr>
              <a:t>Use of crystal templates</a:t>
            </a:r>
          </a:p>
          <a:p>
            <a:pPr marL="285750" indent="-285750">
              <a:buFont typeface="Arial" panose="020B0604020202020204" pitchFamily="34" charset="0"/>
              <a:buChar char="•"/>
            </a:pPr>
            <a:r>
              <a:rPr lang="en-US" sz="2000" dirty="0" smtClean="0">
                <a:solidFill>
                  <a:schemeClr val="accent2">
                    <a:lumMod val="50000"/>
                  </a:schemeClr>
                </a:solidFill>
                <a:latin typeface="Calibri" pitchFamily="34" charset="0"/>
                <a:cs typeface="Calibri" pitchFamily="34" charset="0"/>
              </a:rPr>
              <a:t>Use of HLA-specific constraints</a:t>
            </a:r>
          </a:p>
        </p:txBody>
      </p:sp>
    </p:spTree>
    <p:extLst>
      <p:ext uri="{BB962C8B-B14F-4D97-AF65-F5344CB8AC3E}">
        <p14:creationId xmlns:p14="http://schemas.microsoft.com/office/powerpoint/2010/main" val="129587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P spid="7"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p:cNvSpPr txBox="1">
            <a:spLocks/>
          </p:cNvSpPr>
          <p:nvPr/>
        </p:nvSpPr>
        <p:spPr>
          <a:xfrm>
            <a:off x="0" y="-3122"/>
            <a:ext cx="9144000" cy="633413"/>
          </a:xfrm>
          <a:prstGeom prst="rect">
            <a:avLst/>
          </a:prstGeom>
          <a:solidFill>
            <a:schemeClr val="accent2">
              <a:lumMod val="40000"/>
              <a:lumOff val="60000"/>
            </a:schemeClr>
          </a:solidFill>
          <a:ln w="38100">
            <a:noFill/>
            <a:miter lim="800000"/>
            <a:headEnd/>
            <a:tailEnd/>
          </a:ln>
          <a:extLst/>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n-US" sz="3200" dirty="0">
                <a:solidFill>
                  <a:schemeClr val="accent2">
                    <a:lumMod val="50000"/>
                  </a:schemeClr>
                </a:solidFill>
                <a:latin typeface="Calibri" pitchFamily="34" charset="0"/>
                <a:cs typeface="Calibri" pitchFamily="34" charset="0"/>
              </a:rPr>
              <a:t>Docking </a:t>
            </a:r>
            <a:r>
              <a:rPr lang="en-US" sz="3200" dirty="0" err="1" smtClean="0">
                <a:solidFill>
                  <a:schemeClr val="accent2">
                    <a:lumMod val="50000"/>
                  </a:schemeClr>
                </a:solidFill>
                <a:latin typeface="Calibri" pitchFamily="34" charset="0"/>
                <a:cs typeface="Calibri" pitchFamily="34" charset="0"/>
              </a:rPr>
              <a:t>INCrementally</a:t>
            </a:r>
            <a:r>
              <a:rPr lang="en-US" sz="3200" dirty="0" smtClean="0">
                <a:solidFill>
                  <a:schemeClr val="accent2">
                    <a:lumMod val="50000"/>
                  </a:schemeClr>
                </a:solidFill>
                <a:latin typeface="Calibri" pitchFamily="34" charset="0"/>
                <a:cs typeface="Calibri" pitchFamily="34" charset="0"/>
              </a:rPr>
              <a:t> (DINC)</a:t>
            </a:r>
            <a:endParaRPr lang="en-US" sz="3200" dirty="0">
              <a:ln w="10160">
                <a:solidFill>
                  <a:schemeClr val="accent1">
                    <a:lumMod val="75000"/>
                  </a:schemeClr>
                </a:solidFill>
                <a:prstDash val="solid"/>
              </a:ln>
              <a:solidFill>
                <a:srgbClr val="FFFFFF"/>
              </a:solidFill>
              <a:effectLst>
                <a:outerShdw blurRad="38100" dist="32000" dir="5400000" algn="tl">
                  <a:srgbClr val="000000">
                    <a:alpha val="30000"/>
                  </a:srgbClr>
                </a:outerShdw>
              </a:effectLst>
            </a:endParaRPr>
          </a:p>
        </p:txBody>
      </p:sp>
      <p:sp>
        <p:nvSpPr>
          <p:cNvPr id="6" name="TextBox 5"/>
          <p:cNvSpPr txBox="1"/>
          <p:nvPr/>
        </p:nvSpPr>
        <p:spPr>
          <a:xfrm>
            <a:off x="2771800" y="2852936"/>
            <a:ext cx="4237057" cy="369332"/>
          </a:xfrm>
          <a:prstGeom prst="rect">
            <a:avLst/>
          </a:prstGeom>
          <a:noFill/>
        </p:spPr>
        <p:txBody>
          <a:bodyPr wrap="none" rtlCol="0">
            <a:spAutoFit/>
          </a:bodyPr>
          <a:lstStyle/>
          <a:p>
            <a:r>
              <a:rPr lang="en-US" dirty="0" smtClean="0"/>
              <a:t>From here on was talking about DINC…</a:t>
            </a:r>
            <a:endParaRPr lang="en-US" dirty="0"/>
          </a:p>
        </p:txBody>
      </p:sp>
    </p:spTree>
    <p:extLst>
      <p:ext uri="{BB962C8B-B14F-4D97-AF65-F5344CB8AC3E}">
        <p14:creationId xmlns:p14="http://schemas.microsoft.com/office/powerpoint/2010/main" val="13068750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20421</TotalTime>
  <Words>1567</Words>
  <Application>Microsoft Office PowerPoint</Application>
  <PresentationFormat>On-screen Show (4:3)</PresentationFormat>
  <Paragraphs>131</Paragraphs>
  <Slides>13</Slides>
  <Notes>13</Notes>
  <HiddenSlides>0</HiddenSlides>
  <MMClips>1</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Structure-based selection of  tumor-antigens for  T-cell based immunotherapy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Estudo in silico das bases moleculares responsáveis pela reatividade cruzada entre epitopos virais restritos ao alelo HLA-A2*0201</dc:title>
  <dc:creator>Dinler</dc:creator>
  <cp:lastModifiedBy>Dinler</cp:lastModifiedBy>
  <cp:revision>868</cp:revision>
  <dcterms:created xsi:type="dcterms:W3CDTF">2010-06-12T17:19:31Z</dcterms:created>
  <dcterms:modified xsi:type="dcterms:W3CDTF">2018-09-23T21:16:52Z</dcterms:modified>
</cp:coreProperties>
</file>